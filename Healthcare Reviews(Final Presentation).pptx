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</p:sldIdLst>
  <p:sldSz cx="9144000" cy="5143500" type="screen16x9"/>
  <p:notesSz cx="6858000" cy="9144000"/>
  <p:embeddedFontLst>
    <p:embeddedFont>
      <p:font typeface="IBM Plex Mono" panose="020B0509050203000203" pitchFamily="49" charset="77"/>
      <p:regular r:id="rId31"/>
      <p:bold r:id="rId32"/>
      <p:italic r:id="rId33"/>
      <p:boldItalic r:id="rId34"/>
    </p:embeddedFont>
    <p:embeddedFont>
      <p:font typeface="IBM Plex Mono Light" panose="020B0409050203000203" pitchFamily="49" charset="77"/>
      <p:regular r:id="rId35"/>
      <p:bold r:id="rId36"/>
      <p:italic r:id="rId37"/>
      <p:boldItalic r:id="rId38"/>
    </p:embeddedFont>
    <p:embeddedFont>
      <p:font typeface="IBM Plex Mono Medium" panose="020B0609050203000203" pitchFamily="49" charset="77"/>
      <p:regular r:id="rId39"/>
      <p:bold r:id="rId40"/>
      <p:italic r:id="rId41"/>
      <p:boldItalic r:id="rId42"/>
    </p:embeddedFont>
    <p:embeddedFont>
      <p:font typeface="IBM Plex Sans" panose="020B0503050203000203" pitchFamily="34" charset="0"/>
      <p:regular r:id="rId43"/>
      <p:bold r:id="rId44"/>
      <p:italic r:id="rId45"/>
      <p:boldItalic r:id="rId46"/>
    </p:embeddedFont>
    <p:embeddedFont>
      <p:font typeface="IBM Plex Sans Light" panose="020B0403050203000203" pitchFamily="34" charset="0"/>
      <p:regular r:id="rId47"/>
      <p:bold r:id="rId48"/>
      <p:italic r:id="rId49"/>
      <p:boldItalic r:id="rId50"/>
    </p:embeddedFont>
    <p:embeddedFont>
      <p:font typeface="IBM Plex Sans Medium" panose="020B0603050203000203" pitchFamily="3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07705B-5D18-457A-A06C-3EAC3D1E9904}">
  <a:tblStyle styleId="{7A07705B-5D18-457A-A06C-3EAC3D1E99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EEA1A56-7E6A-4C05-BA3D-047EB833A86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6"/>
  </p:normalViewPr>
  <p:slideViewPr>
    <p:cSldViewPr snapToGrid="0">
      <p:cViewPr>
        <p:scale>
          <a:sx n="127" d="100"/>
          <a:sy n="127" d="100"/>
        </p:scale>
        <p:origin x="1224" y="6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font" Target="fonts/font20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3" Type="http://schemas.openxmlformats.org/officeDocument/2006/relationships/font" Target="fonts/font23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2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54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font" Target="fonts/font19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6a625c1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6a625c1c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6a625c1ca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a6a625c1ca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ce61e9f0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ce61e9f0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bab1b0ee3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abab1b0ee3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3e55e8b0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a3e55e8b0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6a625c1ca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a6a625c1ca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bab1b0ee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abab1b0ee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a6a625c1ca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a6a625c1ca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bab1b0e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abab1b0e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bab1b0ee3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abab1b0ee3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6a625c1ca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a6a625c1ca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abab1b0ee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abab1b0ee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4A2E"/>
              </a:buClr>
              <a:buSzPts val="1200"/>
              <a:buFont typeface="IBM Plex Sans Light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abab1b0ee3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abab1b0ee3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a3d9040f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a3d9040f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6207fcd7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a6207fcd7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919073b1f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919073b1f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a6207fcd72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a6207fcd72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a6207fcd7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a6207fcd7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919073b1f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919073b1f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a61d2c146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a61d2c146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a61d2c1468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a61d2c1468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919073b1f9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919073b1f9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a61d2c1468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a61d2c1468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61d2c1468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a61d2c1468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919073b1f9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919073b1f9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919073b1f9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919073b1f9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bab1b0ee3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abab1b0ee3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abab1b0ee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abab1b0ee3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with footer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3544800" cy="41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3544800" cy="41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4797600" y="685800"/>
            <a:ext cx="3432000" cy="343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7" name="Google Shape;27;p5"/>
          <p:cNvSpPr>
            <a:spLocks noGrp="1"/>
          </p:cNvSpPr>
          <p:nvPr>
            <p:ph type="pic" idx="2"/>
          </p:nvPr>
        </p:nvSpPr>
        <p:spPr>
          <a:xfrm>
            <a:off x="4582800" y="1099500"/>
            <a:ext cx="3233100" cy="32331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5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_1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4797600" y="685800"/>
            <a:ext cx="3432000" cy="343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2" name="Google Shape;32;p6"/>
          <p:cNvSpPr>
            <a:spLocks noGrp="1"/>
          </p:cNvSpPr>
          <p:nvPr>
            <p:ph type="pic" idx="2"/>
          </p:nvPr>
        </p:nvSpPr>
        <p:spPr>
          <a:xfrm>
            <a:off x="4582800" y="1099500"/>
            <a:ext cx="3233100" cy="323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342975" y="2630575"/>
            <a:ext cx="3752700" cy="19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3752700" cy="20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subTitle" idx="1"/>
          </p:nvPr>
        </p:nvSpPr>
        <p:spPr>
          <a:xfrm>
            <a:off x="4582900" y="1058100"/>
            <a:ext cx="10476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2"/>
          </p:nvPr>
        </p:nvSpPr>
        <p:spPr>
          <a:xfrm>
            <a:off x="6284500" y="1058100"/>
            <a:ext cx="24024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ubTitle" idx="3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42900" y="1817100"/>
            <a:ext cx="3650700" cy="15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ection title and description">
  <p:cSld name="SECTION_HEADER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342900" y="1817100"/>
            <a:ext cx="3650700" cy="15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ubTitle" idx="1"/>
          </p:nvPr>
        </p:nvSpPr>
        <p:spPr>
          <a:xfrm>
            <a:off x="4582900" y="1058100"/>
            <a:ext cx="41040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one column text">
  <p:cSld name="CUSTOM_8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5394600" cy="9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/>
          <p:nvPr/>
        </p:nvSpPr>
        <p:spPr>
          <a:xfrm>
            <a:off x="453727" y="15909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645275" y="1495225"/>
            <a:ext cx="53946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342975" y="1913700"/>
            <a:ext cx="5697000" cy="26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big idea with image" type="tx">
  <p:cSld name="TITLE_AND_BOD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1223925" y="457200"/>
            <a:ext cx="3435000" cy="18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ubTitle" idx="1"/>
          </p:nvPr>
        </p:nvSpPr>
        <p:spPr>
          <a:xfrm>
            <a:off x="5239600" y="871784"/>
            <a:ext cx="3447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2"/>
          </p:nvPr>
        </p:nvSpPr>
        <p:spPr>
          <a:xfrm>
            <a:off x="4937300" y="1290250"/>
            <a:ext cx="2875500" cy="28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ubTitle" idx="3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52">
          <p15:clr>
            <a:srgbClr val="E46962"/>
          </p15:clr>
        </p15:guide>
        <p15:guide id="2" orient="horz" pos="259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type="twoColTx">
  <p:cSld name="TITLE_AND_TWO_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342900" y="2506825"/>
            <a:ext cx="8343900" cy="13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subTitle" idx="1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mall image with footer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5343600" cy="4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1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36">
          <p15:clr>
            <a:srgbClr val="E46962"/>
          </p15:clr>
        </p15:guide>
        <p15:guide id="2" pos="5184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ONE_COLUMN_TEXT">
    <p:bg>
      <p:bgPr>
        <a:solidFill>
          <a:schemeClr val="dk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title" hasCustomPrompt="1"/>
          </p:nvPr>
        </p:nvSpPr>
        <p:spPr>
          <a:xfrm>
            <a:off x="-2143950" y="25"/>
            <a:ext cx="112077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1"/>
          </p:nvPr>
        </p:nvSpPr>
        <p:spPr>
          <a:xfrm>
            <a:off x="342900" y="452925"/>
            <a:ext cx="28593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●"/>
              <a:defRPr>
                <a:solidFill>
                  <a:schemeClr val="accent6"/>
                </a:solidFill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SzPts val="1200"/>
              <a:buFont typeface="IBM Plex Sans Light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ubtitle, body and images">
  <p:cSld name="MAIN_POIN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>
            <a:spLocks noGrp="1"/>
          </p:cNvSpPr>
          <p:nvPr>
            <p:ph type="pic" idx="2"/>
          </p:nvPr>
        </p:nvSpPr>
        <p:spPr>
          <a:xfrm>
            <a:off x="6708900" y="457200"/>
            <a:ext cx="1977900" cy="1977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Google Shape;89;p15"/>
          <p:cNvSpPr>
            <a:spLocks noGrp="1"/>
          </p:cNvSpPr>
          <p:nvPr>
            <p:ph type="pic" idx="3"/>
          </p:nvPr>
        </p:nvSpPr>
        <p:spPr>
          <a:xfrm>
            <a:off x="6708900" y="2591100"/>
            <a:ext cx="1977900" cy="1977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645275" y="551372"/>
            <a:ext cx="17721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subTitle" idx="4"/>
          </p:nvPr>
        </p:nvSpPr>
        <p:spPr>
          <a:xfrm>
            <a:off x="2417375" y="551375"/>
            <a:ext cx="37512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body" idx="5"/>
          </p:nvPr>
        </p:nvSpPr>
        <p:spPr>
          <a:xfrm>
            <a:off x="342975" y="969850"/>
            <a:ext cx="4876200" cy="14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6"/>
          </p:nvPr>
        </p:nvSpPr>
        <p:spPr>
          <a:xfrm>
            <a:off x="645275" y="2605522"/>
            <a:ext cx="17721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7"/>
          </p:nvPr>
        </p:nvSpPr>
        <p:spPr>
          <a:xfrm>
            <a:off x="2417375" y="2605525"/>
            <a:ext cx="37512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body" idx="8"/>
          </p:nvPr>
        </p:nvSpPr>
        <p:spPr>
          <a:xfrm>
            <a:off x="342975" y="3024000"/>
            <a:ext cx="4876200" cy="14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9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5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44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with footer">
  <p:cSld name="CUSTOM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ubTitle" idx="1"/>
          </p:nvPr>
        </p:nvSpPr>
        <p:spPr>
          <a:xfrm>
            <a:off x="645275" y="2291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2"/>
          </p:nvPr>
        </p:nvSpPr>
        <p:spPr>
          <a:xfrm>
            <a:off x="342975" y="2710450"/>
            <a:ext cx="27174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3"/>
          </p:nvPr>
        </p:nvSpPr>
        <p:spPr>
          <a:xfrm>
            <a:off x="3515600" y="2291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4"/>
          </p:nvPr>
        </p:nvSpPr>
        <p:spPr>
          <a:xfrm>
            <a:off x="3213300" y="2710450"/>
            <a:ext cx="27174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ubTitle" idx="5"/>
          </p:nvPr>
        </p:nvSpPr>
        <p:spPr>
          <a:xfrm>
            <a:off x="6385925" y="2291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6"/>
          </p:nvPr>
        </p:nvSpPr>
        <p:spPr>
          <a:xfrm>
            <a:off x="6083625" y="2710450"/>
            <a:ext cx="27174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7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44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10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cxnSp>
        <p:nvCxnSpPr>
          <p:cNvPr id="112" name="Google Shape;112;p17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" name="Google Shape;113;p17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" name="Google Shape;114;p17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subTitle" idx="1"/>
          </p:nvPr>
        </p:nvSpPr>
        <p:spPr>
          <a:xfrm>
            <a:off x="645275" y="2291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2"/>
          </p:nvPr>
        </p:nvSpPr>
        <p:spPr>
          <a:xfrm>
            <a:off x="342975" y="2710450"/>
            <a:ext cx="27174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cxnSp>
        <p:nvCxnSpPr>
          <p:cNvPr id="117" name="Google Shape;117;p17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" name="Google Shape;118;p17"/>
          <p:cNvSpPr/>
          <p:nvPr/>
        </p:nvSpPr>
        <p:spPr>
          <a:xfrm>
            <a:off x="332405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subTitle" idx="3"/>
          </p:nvPr>
        </p:nvSpPr>
        <p:spPr>
          <a:xfrm>
            <a:off x="3515600" y="2291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body" idx="4"/>
          </p:nvPr>
        </p:nvSpPr>
        <p:spPr>
          <a:xfrm>
            <a:off x="3213300" y="2710450"/>
            <a:ext cx="27174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61943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subTitle" idx="5"/>
          </p:nvPr>
        </p:nvSpPr>
        <p:spPr>
          <a:xfrm>
            <a:off x="6385925" y="2291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body" idx="6"/>
          </p:nvPr>
        </p:nvSpPr>
        <p:spPr>
          <a:xfrm>
            <a:off x="6083625" y="2710450"/>
            <a:ext cx="27174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1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44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6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8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8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" name="Google Shape;130;p18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1"/>
          </p:nvPr>
        </p:nvSpPr>
        <p:spPr>
          <a:xfrm>
            <a:off x="645275" y="2291984"/>
            <a:ext cx="3621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body" idx="2"/>
          </p:nvPr>
        </p:nvSpPr>
        <p:spPr>
          <a:xfrm>
            <a:off x="342975" y="2710450"/>
            <a:ext cx="39237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cxnSp>
        <p:nvCxnSpPr>
          <p:cNvPr id="133" name="Google Shape;133;p18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" name="Google Shape;134;p18"/>
          <p:cNvSpPr/>
          <p:nvPr/>
        </p:nvSpPr>
        <p:spPr>
          <a:xfrm>
            <a:off x="46892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8"/>
          <p:cNvSpPr txBox="1">
            <a:spLocks noGrp="1"/>
          </p:cNvSpPr>
          <p:nvPr>
            <p:ph type="subTitle" idx="3"/>
          </p:nvPr>
        </p:nvSpPr>
        <p:spPr>
          <a:xfrm>
            <a:off x="4880825" y="2291984"/>
            <a:ext cx="3621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body" idx="4"/>
          </p:nvPr>
        </p:nvSpPr>
        <p:spPr>
          <a:xfrm>
            <a:off x="4578525" y="2710450"/>
            <a:ext cx="39237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1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44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6_1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body" idx="1"/>
          </p:nvPr>
        </p:nvSpPr>
        <p:spPr>
          <a:xfrm>
            <a:off x="6696350" y="2710450"/>
            <a:ext cx="18897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cxnSp>
        <p:nvCxnSpPr>
          <p:cNvPr id="142" name="Google Shape;142;p19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9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" name="Google Shape;145;p19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subTitle" idx="2"/>
          </p:nvPr>
        </p:nvSpPr>
        <p:spPr>
          <a:xfrm>
            <a:off x="645275" y="2291984"/>
            <a:ext cx="1587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body" idx="3"/>
          </p:nvPr>
        </p:nvSpPr>
        <p:spPr>
          <a:xfrm>
            <a:off x="342975" y="2710450"/>
            <a:ext cx="18897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46892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subTitle" idx="4"/>
          </p:nvPr>
        </p:nvSpPr>
        <p:spPr>
          <a:xfrm>
            <a:off x="4880825" y="2291984"/>
            <a:ext cx="1587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5"/>
          </p:nvPr>
        </p:nvSpPr>
        <p:spPr>
          <a:xfrm>
            <a:off x="4578525" y="2710450"/>
            <a:ext cx="18897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257145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subTitle" idx="6"/>
          </p:nvPr>
        </p:nvSpPr>
        <p:spPr>
          <a:xfrm>
            <a:off x="2763000" y="2291984"/>
            <a:ext cx="1587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body" idx="7"/>
          </p:nvPr>
        </p:nvSpPr>
        <p:spPr>
          <a:xfrm>
            <a:off x="2460700" y="2710450"/>
            <a:ext cx="1889700" cy="17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680710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subTitle" idx="8"/>
          </p:nvPr>
        </p:nvSpPr>
        <p:spPr>
          <a:xfrm>
            <a:off x="6998650" y="2291984"/>
            <a:ext cx="1587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1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44">
          <p15:clr>
            <a:srgbClr val="E46962"/>
          </p15:clr>
        </p15:guide>
        <p15:guide id="2" pos="2884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with footer 1">
  <p:cSld name="CUSTOM_3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>
            <a:spLocks noGrp="1"/>
          </p:cNvSpPr>
          <p:nvPr>
            <p:ph type="body" idx="1"/>
          </p:nvPr>
        </p:nvSpPr>
        <p:spPr>
          <a:xfrm>
            <a:off x="6129700" y="1058025"/>
            <a:ext cx="25569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body" idx="2"/>
          </p:nvPr>
        </p:nvSpPr>
        <p:spPr>
          <a:xfrm>
            <a:off x="4695000" y="1058025"/>
            <a:ext cx="13782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r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title"/>
          </p:nvPr>
        </p:nvSpPr>
        <p:spPr>
          <a:xfrm>
            <a:off x="457200" y="1195125"/>
            <a:ext cx="4000500" cy="26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subTitle" idx="3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6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with footer 2">
  <p:cSld name="CUSTOM_3_3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body" idx="1"/>
          </p:nvPr>
        </p:nvSpPr>
        <p:spPr>
          <a:xfrm>
            <a:off x="1891900" y="1058025"/>
            <a:ext cx="25569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body" idx="2"/>
          </p:nvPr>
        </p:nvSpPr>
        <p:spPr>
          <a:xfrm>
            <a:off x="457200" y="1058025"/>
            <a:ext cx="13782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r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title"/>
          </p:nvPr>
        </p:nvSpPr>
        <p:spPr>
          <a:xfrm>
            <a:off x="4686100" y="1195125"/>
            <a:ext cx="4000500" cy="26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3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6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3_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6129700" y="1058025"/>
            <a:ext cx="25569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2"/>
          </p:nvPr>
        </p:nvSpPr>
        <p:spPr>
          <a:xfrm>
            <a:off x="4695000" y="1058025"/>
            <a:ext cx="13782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r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cxnSp>
        <p:nvCxnSpPr>
          <p:cNvPr id="175" name="Google Shape;175;p22"/>
          <p:cNvCxnSpPr/>
          <p:nvPr/>
        </p:nvCxnSpPr>
        <p:spPr>
          <a:xfrm rot="10800000">
            <a:off x="4572000" y="466575"/>
            <a:ext cx="0" cy="410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2"/>
          <p:cNvSpPr txBox="1">
            <a:spLocks noGrp="1"/>
          </p:cNvSpPr>
          <p:nvPr>
            <p:ph type="title"/>
          </p:nvPr>
        </p:nvSpPr>
        <p:spPr>
          <a:xfrm>
            <a:off x="457200" y="1195125"/>
            <a:ext cx="4000500" cy="26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cxnSp>
        <p:nvCxnSpPr>
          <p:cNvPr id="177" name="Google Shape;177;p22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2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2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6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CUSTOM_3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p23"/>
          <p:cNvCxnSpPr/>
          <p:nvPr/>
        </p:nvCxnSpPr>
        <p:spPr>
          <a:xfrm rot="10800000">
            <a:off x="4572000" y="466575"/>
            <a:ext cx="0" cy="410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3"/>
          <p:cNvSpPr txBox="1">
            <a:spLocks noGrp="1"/>
          </p:cNvSpPr>
          <p:nvPr>
            <p:ph type="title"/>
          </p:nvPr>
        </p:nvSpPr>
        <p:spPr>
          <a:xfrm>
            <a:off x="457200" y="1195125"/>
            <a:ext cx="4000500" cy="26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cxnSp>
        <p:nvCxnSpPr>
          <p:cNvPr id="184" name="Google Shape;184;p23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" name="Google Shape;185;p23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23"/>
          <p:cNvSpPr txBox="1">
            <a:spLocks noGrp="1"/>
          </p:cNvSpPr>
          <p:nvPr>
            <p:ph type="body" idx="1"/>
          </p:nvPr>
        </p:nvSpPr>
        <p:spPr>
          <a:xfrm>
            <a:off x="4933600" y="1058025"/>
            <a:ext cx="35232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87" name="Google Shape;187;p23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2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3_1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24"/>
          <p:cNvCxnSpPr/>
          <p:nvPr/>
        </p:nvCxnSpPr>
        <p:spPr>
          <a:xfrm rot="10800000">
            <a:off x="3319175" y="466575"/>
            <a:ext cx="0" cy="410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24"/>
          <p:cNvSpPr txBox="1">
            <a:spLocks noGrp="1"/>
          </p:cNvSpPr>
          <p:nvPr>
            <p:ph type="title"/>
          </p:nvPr>
        </p:nvSpPr>
        <p:spPr>
          <a:xfrm>
            <a:off x="457200" y="1195125"/>
            <a:ext cx="2727300" cy="26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cxnSp>
        <p:nvCxnSpPr>
          <p:cNvPr id="192" name="Google Shape;192;p24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4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" name="Google Shape;194;p24"/>
          <p:cNvSpPr/>
          <p:nvPr/>
        </p:nvSpPr>
        <p:spPr>
          <a:xfrm>
            <a:off x="3813602" y="12015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4"/>
          <p:cNvSpPr txBox="1">
            <a:spLocks noGrp="1"/>
          </p:cNvSpPr>
          <p:nvPr>
            <p:ph type="subTitle" idx="1"/>
          </p:nvPr>
        </p:nvSpPr>
        <p:spPr>
          <a:xfrm>
            <a:off x="4005150" y="1105813"/>
            <a:ext cx="46818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3813602" y="168963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4"/>
          <p:cNvSpPr txBox="1">
            <a:spLocks noGrp="1"/>
          </p:cNvSpPr>
          <p:nvPr>
            <p:ph type="subTitle" idx="2"/>
          </p:nvPr>
        </p:nvSpPr>
        <p:spPr>
          <a:xfrm>
            <a:off x="4005150" y="1593938"/>
            <a:ext cx="46818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4"/>
          <p:cNvSpPr/>
          <p:nvPr/>
        </p:nvSpPr>
        <p:spPr>
          <a:xfrm>
            <a:off x="3813602" y="217776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subTitle" idx="3"/>
          </p:nvPr>
        </p:nvSpPr>
        <p:spPr>
          <a:xfrm>
            <a:off x="4005150" y="2082063"/>
            <a:ext cx="46818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4"/>
          <p:cNvSpPr/>
          <p:nvPr/>
        </p:nvSpPr>
        <p:spPr>
          <a:xfrm>
            <a:off x="3813602" y="26964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subTitle" idx="4"/>
          </p:nvPr>
        </p:nvSpPr>
        <p:spPr>
          <a:xfrm>
            <a:off x="4005150" y="2600788"/>
            <a:ext cx="46818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4"/>
          <p:cNvSpPr/>
          <p:nvPr/>
        </p:nvSpPr>
        <p:spPr>
          <a:xfrm>
            <a:off x="3813602" y="32152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5"/>
          </p:nvPr>
        </p:nvSpPr>
        <p:spPr>
          <a:xfrm>
            <a:off x="4005150" y="3119513"/>
            <a:ext cx="46818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4"/>
          <p:cNvSpPr/>
          <p:nvPr/>
        </p:nvSpPr>
        <p:spPr>
          <a:xfrm>
            <a:off x="3813602" y="373393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subTitle" idx="6"/>
          </p:nvPr>
        </p:nvSpPr>
        <p:spPr>
          <a:xfrm>
            <a:off x="4005150" y="3638238"/>
            <a:ext cx="46818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with footer">
  <p:cSld name="CUSTOM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3544800" cy="4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5"/>
          <p:cNvSpPr txBox="1">
            <a:spLocks noGrp="1"/>
          </p:cNvSpPr>
          <p:nvPr>
            <p:ph type="subTitle" idx="1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211" name="Google Shape;211;p25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5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1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3544800" cy="4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6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2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with footer">
  <p:cSld name="CUSTOM_7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2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1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7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8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CUSTOM_2_2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subTitle" idx="1"/>
          </p:nvPr>
        </p:nvSpPr>
        <p:spPr>
          <a:xfrm>
            <a:off x="342900" y="630425"/>
            <a:ext cx="8345700" cy="2592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342900" y="889625"/>
            <a:ext cx="8345700" cy="3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3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CUSTOM_2_1_2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343900" cy="14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cxnSp>
        <p:nvCxnSpPr>
          <p:cNvPr id="244" name="Google Shape;244;p32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32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32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3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2_1_2_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33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33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" name="Google Shape;251;p33"/>
          <p:cNvSpPr>
            <a:spLocks noGrp="1"/>
          </p:cNvSpPr>
          <p:nvPr>
            <p:ph type="pic" idx="2"/>
          </p:nvPr>
        </p:nvSpPr>
        <p:spPr>
          <a:xfrm>
            <a:off x="457200" y="588788"/>
            <a:ext cx="8229600" cy="38358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33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2_1_2_1_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/>
          <p:nvPr/>
        </p:nvSpPr>
        <p:spPr>
          <a:xfrm>
            <a:off x="342900" y="1834500"/>
            <a:ext cx="2778300" cy="273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56" name="Google Shape;256;p34"/>
          <p:cNvSpPr/>
          <p:nvPr/>
        </p:nvSpPr>
        <p:spPr>
          <a:xfrm>
            <a:off x="2045193" y="1513259"/>
            <a:ext cx="2393400" cy="25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57" name="Google Shape;257;p34"/>
          <p:cNvSpPr/>
          <p:nvPr/>
        </p:nvSpPr>
        <p:spPr>
          <a:xfrm>
            <a:off x="4171372" y="1976202"/>
            <a:ext cx="2393400" cy="2592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58" name="Google Shape;258;p34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7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59" name="Google Shape;259;p34"/>
          <p:cNvSpPr/>
          <p:nvPr/>
        </p:nvSpPr>
        <p:spPr>
          <a:xfrm>
            <a:off x="4712400" y="1513255"/>
            <a:ext cx="4092900" cy="170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60" name="Google Shape;260;p34"/>
          <p:cNvSpPr>
            <a:spLocks noGrp="1"/>
          </p:cNvSpPr>
          <p:nvPr>
            <p:ph type="pic" idx="2"/>
          </p:nvPr>
        </p:nvSpPr>
        <p:spPr>
          <a:xfrm>
            <a:off x="457200" y="1245883"/>
            <a:ext cx="1490700" cy="9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34"/>
          <p:cNvSpPr>
            <a:spLocks noGrp="1"/>
          </p:cNvSpPr>
          <p:nvPr>
            <p:ph type="pic" idx="3"/>
          </p:nvPr>
        </p:nvSpPr>
        <p:spPr>
          <a:xfrm>
            <a:off x="457200" y="2354103"/>
            <a:ext cx="1934700" cy="20442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4"/>
          <p:cNvSpPr>
            <a:spLocks noGrp="1"/>
          </p:cNvSpPr>
          <p:nvPr>
            <p:ph type="pic" idx="4"/>
          </p:nvPr>
        </p:nvSpPr>
        <p:spPr>
          <a:xfrm>
            <a:off x="2526950" y="1640193"/>
            <a:ext cx="1785300" cy="18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4"/>
          <p:cNvSpPr>
            <a:spLocks noGrp="1"/>
          </p:cNvSpPr>
          <p:nvPr>
            <p:ph type="pic" idx="5"/>
          </p:nvPr>
        </p:nvSpPr>
        <p:spPr>
          <a:xfrm>
            <a:off x="3284627" y="3602162"/>
            <a:ext cx="1299000" cy="10842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34"/>
          <p:cNvSpPr>
            <a:spLocks noGrp="1"/>
          </p:cNvSpPr>
          <p:nvPr>
            <p:ph type="pic" idx="6"/>
          </p:nvPr>
        </p:nvSpPr>
        <p:spPr>
          <a:xfrm>
            <a:off x="4583875" y="1245829"/>
            <a:ext cx="1716600" cy="23562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4"/>
          <p:cNvSpPr>
            <a:spLocks noGrp="1"/>
          </p:cNvSpPr>
          <p:nvPr>
            <p:ph type="pic" idx="7"/>
          </p:nvPr>
        </p:nvSpPr>
        <p:spPr>
          <a:xfrm>
            <a:off x="4718575" y="3753392"/>
            <a:ext cx="1299000" cy="6444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4"/>
          <p:cNvSpPr>
            <a:spLocks noGrp="1"/>
          </p:cNvSpPr>
          <p:nvPr>
            <p:ph type="pic" idx="8"/>
          </p:nvPr>
        </p:nvSpPr>
        <p:spPr>
          <a:xfrm>
            <a:off x="6445550" y="2341822"/>
            <a:ext cx="2241300" cy="23442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4"/>
          <p:cNvSpPr>
            <a:spLocks noGrp="1"/>
          </p:cNvSpPr>
          <p:nvPr>
            <p:ph type="pic" idx="9"/>
          </p:nvPr>
        </p:nvSpPr>
        <p:spPr>
          <a:xfrm>
            <a:off x="7387850" y="1231200"/>
            <a:ext cx="1299000" cy="9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4"/>
          <p:cNvSpPr>
            <a:spLocks noGrp="1"/>
          </p:cNvSpPr>
          <p:nvPr>
            <p:ph type="pic" idx="13"/>
          </p:nvPr>
        </p:nvSpPr>
        <p:spPr>
          <a:xfrm>
            <a:off x="6445750" y="1632987"/>
            <a:ext cx="805500" cy="5559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4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52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text and two images">
  <p:cSld name="CUSTOM_2_1_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 txBox="1">
            <a:spLocks noGrp="1"/>
          </p:cNvSpPr>
          <p:nvPr>
            <p:ph type="body" idx="1"/>
          </p:nvPr>
        </p:nvSpPr>
        <p:spPr>
          <a:xfrm>
            <a:off x="5969400" y="771725"/>
            <a:ext cx="21339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73" name="Google Shape;273;p35"/>
          <p:cNvSpPr>
            <a:spLocks noGrp="1"/>
          </p:cNvSpPr>
          <p:nvPr>
            <p:ph type="pic" idx="2"/>
          </p:nvPr>
        </p:nvSpPr>
        <p:spPr>
          <a:xfrm>
            <a:off x="457200" y="1625175"/>
            <a:ext cx="5345400" cy="2799300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p35"/>
          <p:cNvSpPr>
            <a:spLocks noGrp="1"/>
          </p:cNvSpPr>
          <p:nvPr>
            <p:ph type="pic" idx="3"/>
          </p:nvPr>
        </p:nvSpPr>
        <p:spPr>
          <a:xfrm>
            <a:off x="5943600" y="1635225"/>
            <a:ext cx="2743200" cy="27993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35"/>
          <p:cNvSpPr txBox="1">
            <a:spLocks noGrp="1"/>
          </p:cNvSpPr>
          <p:nvPr>
            <p:ph type="subTitle" idx="4"/>
          </p:nvPr>
        </p:nvSpPr>
        <p:spPr>
          <a:xfrm>
            <a:off x="645275" y="479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35"/>
          <p:cNvSpPr txBox="1">
            <a:spLocks noGrp="1"/>
          </p:cNvSpPr>
          <p:nvPr>
            <p:ph type="subTitle" idx="5"/>
          </p:nvPr>
        </p:nvSpPr>
        <p:spPr>
          <a:xfrm>
            <a:off x="3515675" y="479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5"/>
          <p:cNvSpPr txBox="1">
            <a:spLocks noGrp="1"/>
          </p:cNvSpPr>
          <p:nvPr>
            <p:ph type="subTitle" idx="6"/>
          </p:nvPr>
        </p:nvSpPr>
        <p:spPr>
          <a:xfrm>
            <a:off x="6386075" y="479984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35"/>
          <p:cNvSpPr txBox="1">
            <a:spLocks noGrp="1"/>
          </p:cNvSpPr>
          <p:nvPr>
            <p:ph type="body" idx="7"/>
          </p:nvPr>
        </p:nvSpPr>
        <p:spPr>
          <a:xfrm>
            <a:off x="3156150" y="771725"/>
            <a:ext cx="21339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body" idx="8"/>
          </p:nvPr>
        </p:nvSpPr>
        <p:spPr>
          <a:xfrm>
            <a:off x="342975" y="771725"/>
            <a:ext cx="21339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80" name="Google Shape;280;p35"/>
          <p:cNvSpPr txBox="1">
            <a:spLocks noGrp="1"/>
          </p:cNvSpPr>
          <p:nvPr>
            <p:ph type="subTitle" idx="9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281" name="Google Shape;281;p35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35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2_1_1_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>
            <a:spLocks noGrp="1"/>
          </p:cNvSpPr>
          <p:nvPr>
            <p:ph type="body" idx="1"/>
          </p:nvPr>
        </p:nvSpPr>
        <p:spPr>
          <a:xfrm>
            <a:off x="6083625" y="3343625"/>
            <a:ext cx="27174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84582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86" name="Google Shape;286;p36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6"/>
          <p:cNvCxnSpPr/>
          <p:nvPr/>
        </p:nvCxnSpPr>
        <p:spPr>
          <a:xfrm>
            <a:off x="342977" y="1266068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8" name="Google Shape;288;p36"/>
          <p:cNvSpPr/>
          <p:nvPr/>
        </p:nvSpPr>
        <p:spPr>
          <a:xfrm>
            <a:off x="45372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6"/>
          <p:cNvSpPr txBox="1">
            <a:spLocks noGrp="1"/>
          </p:cNvSpPr>
          <p:nvPr>
            <p:ph type="subTitle" idx="2"/>
          </p:nvPr>
        </p:nvSpPr>
        <p:spPr>
          <a:xfrm>
            <a:off x="645275" y="2925159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36"/>
          <p:cNvSpPr txBox="1">
            <a:spLocks noGrp="1"/>
          </p:cNvSpPr>
          <p:nvPr>
            <p:ph type="body" idx="3"/>
          </p:nvPr>
        </p:nvSpPr>
        <p:spPr>
          <a:xfrm>
            <a:off x="342975" y="3343625"/>
            <a:ext cx="27174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1" name="Google Shape;291;p36"/>
          <p:cNvSpPr/>
          <p:nvPr/>
        </p:nvSpPr>
        <p:spPr>
          <a:xfrm>
            <a:off x="3324052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6"/>
          <p:cNvSpPr txBox="1">
            <a:spLocks noGrp="1"/>
          </p:cNvSpPr>
          <p:nvPr>
            <p:ph type="subTitle" idx="4"/>
          </p:nvPr>
        </p:nvSpPr>
        <p:spPr>
          <a:xfrm>
            <a:off x="3515600" y="2925159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36"/>
          <p:cNvSpPr txBox="1">
            <a:spLocks noGrp="1"/>
          </p:cNvSpPr>
          <p:nvPr>
            <p:ph type="body" idx="5"/>
          </p:nvPr>
        </p:nvSpPr>
        <p:spPr>
          <a:xfrm>
            <a:off x="3213300" y="3343625"/>
            <a:ext cx="27174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4" name="Google Shape;294;p36"/>
          <p:cNvSpPr/>
          <p:nvPr/>
        </p:nvSpPr>
        <p:spPr>
          <a:xfrm>
            <a:off x="619437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6"/>
          <p:cNvSpPr txBox="1">
            <a:spLocks noGrp="1"/>
          </p:cNvSpPr>
          <p:nvPr>
            <p:ph type="subTitle" idx="6"/>
          </p:nvPr>
        </p:nvSpPr>
        <p:spPr>
          <a:xfrm>
            <a:off x="6385925" y="2925159"/>
            <a:ext cx="24150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6"/>
          <p:cNvSpPr>
            <a:spLocks noGrp="1"/>
          </p:cNvSpPr>
          <p:nvPr>
            <p:ph type="pic" idx="7"/>
          </p:nvPr>
        </p:nvSpPr>
        <p:spPr>
          <a:xfrm>
            <a:off x="6194375" y="1494125"/>
            <a:ext cx="24924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6"/>
          <p:cNvSpPr>
            <a:spLocks noGrp="1"/>
          </p:cNvSpPr>
          <p:nvPr>
            <p:ph type="pic" idx="8"/>
          </p:nvPr>
        </p:nvSpPr>
        <p:spPr>
          <a:xfrm>
            <a:off x="455475" y="1494125"/>
            <a:ext cx="24924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6"/>
          <p:cNvSpPr>
            <a:spLocks noGrp="1"/>
          </p:cNvSpPr>
          <p:nvPr>
            <p:ph type="pic" idx="9"/>
          </p:nvPr>
        </p:nvSpPr>
        <p:spPr>
          <a:xfrm>
            <a:off x="3324925" y="1494125"/>
            <a:ext cx="24924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36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3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2_1_1_1_1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84582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303" name="Google Shape;303;p37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" name="Google Shape;304;p37"/>
          <p:cNvCxnSpPr/>
          <p:nvPr/>
        </p:nvCxnSpPr>
        <p:spPr>
          <a:xfrm>
            <a:off x="342977" y="1266068"/>
            <a:ext cx="847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5" name="Google Shape;305;p37"/>
          <p:cNvSpPr>
            <a:spLocks noGrp="1"/>
          </p:cNvSpPr>
          <p:nvPr>
            <p:ph type="pic" idx="2"/>
          </p:nvPr>
        </p:nvSpPr>
        <p:spPr>
          <a:xfrm>
            <a:off x="455475" y="1494125"/>
            <a:ext cx="36213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/>
        </p:nvSpPr>
        <p:spPr>
          <a:xfrm>
            <a:off x="45372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7"/>
          <p:cNvSpPr txBox="1">
            <a:spLocks noGrp="1"/>
          </p:cNvSpPr>
          <p:nvPr>
            <p:ph type="subTitle" idx="1"/>
          </p:nvPr>
        </p:nvSpPr>
        <p:spPr>
          <a:xfrm>
            <a:off x="645275" y="2925159"/>
            <a:ext cx="3621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37"/>
          <p:cNvSpPr txBox="1">
            <a:spLocks noGrp="1"/>
          </p:cNvSpPr>
          <p:nvPr>
            <p:ph type="body" idx="3"/>
          </p:nvPr>
        </p:nvSpPr>
        <p:spPr>
          <a:xfrm>
            <a:off x="342975" y="3343625"/>
            <a:ext cx="39237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09" name="Google Shape;309;p37"/>
          <p:cNvSpPr/>
          <p:nvPr/>
        </p:nvSpPr>
        <p:spPr>
          <a:xfrm>
            <a:off x="468927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7"/>
          <p:cNvSpPr txBox="1">
            <a:spLocks noGrp="1"/>
          </p:cNvSpPr>
          <p:nvPr>
            <p:ph type="subTitle" idx="4"/>
          </p:nvPr>
        </p:nvSpPr>
        <p:spPr>
          <a:xfrm>
            <a:off x="5261825" y="2925159"/>
            <a:ext cx="36213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7"/>
          <p:cNvSpPr txBox="1">
            <a:spLocks noGrp="1"/>
          </p:cNvSpPr>
          <p:nvPr>
            <p:ph type="body" idx="5"/>
          </p:nvPr>
        </p:nvSpPr>
        <p:spPr>
          <a:xfrm>
            <a:off x="4959525" y="3343625"/>
            <a:ext cx="39237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12" name="Google Shape;312;p37"/>
          <p:cNvSpPr>
            <a:spLocks noGrp="1"/>
          </p:cNvSpPr>
          <p:nvPr>
            <p:ph type="pic" idx="6"/>
          </p:nvPr>
        </p:nvSpPr>
        <p:spPr>
          <a:xfrm>
            <a:off x="5070275" y="1494125"/>
            <a:ext cx="36213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4" name="Google Shape;314;p3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text">
  <p:cSld name="CUSTOM_4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 txBox="1">
            <a:spLocks noGrp="1"/>
          </p:cNvSpPr>
          <p:nvPr>
            <p:ph type="subTitle" idx="1"/>
          </p:nvPr>
        </p:nvSpPr>
        <p:spPr>
          <a:xfrm>
            <a:off x="342925" y="457200"/>
            <a:ext cx="4068000" cy="27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317" name="Google Shape;317;p38"/>
          <p:cNvSpPr txBox="1">
            <a:spLocks noGrp="1"/>
          </p:cNvSpPr>
          <p:nvPr>
            <p:ph type="subTitle" idx="2"/>
          </p:nvPr>
        </p:nvSpPr>
        <p:spPr>
          <a:xfrm>
            <a:off x="4724500" y="457200"/>
            <a:ext cx="2506500" cy="27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318" name="Google Shape;318;p38"/>
          <p:cNvSpPr txBox="1">
            <a:spLocks noGrp="1"/>
          </p:cNvSpPr>
          <p:nvPr>
            <p:ph type="subTitle" idx="3"/>
          </p:nvPr>
        </p:nvSpPr>
        <p:spPr>
          <a:xfrm>
            <a:off x="7494500" y="457200"/>
            <a:ext cx="1192500" cy="27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319" name="Google Shape;319;p38"/>
          <p:cNvSpPr txBox="1">
            <a:spLocks noGrp="1"/>
          </p:cNvSpPr>
          <p:nvPr>
            <p:ph type="body" idx="4"/>
          </p:nvPr>
        </p:nvSpPr>
        <p:spPr>
          <a:xfrm>
            <a:off x="342925" y="3553200"/>
            <a:ext cx="4068000" cy="101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20" name="Google Shape;320;p38"/>
          <p:cNvSpPr txBox="1">
            <a:spLocks noGrp="1"/>
          </p:cNvSpPr>
          <p:nvPr>
            <p:ph type="body" idx="5"/>
          </p:nvPr>
        </p:nvSpPr>
        <p:spPr>
          <a:xfrm>
            <a:off x="4724500" y="3553200"/>
            <a:ext cx="2506500" cy="101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21" name="Google Shape;321;p38"/>
          <p:cNvSpPr txBox="1">
            <a:spLocks noGrp="1"/>
          </p:cNvSpPr>
          <p:nvPr>
            <p:ph type="body" idx="6"/>
          </p:nvPr>
        </p:nvSpPr>
        <p:spPr>
          <a:xfrm>
            <a:off x="7494400" y="3553200"/>
            <a:ext cx="1192500" cy="101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22" name="Google Shape;322;p38"/>
          <p:cNvSpPr txBox="1">
            <a:spLocks noGrp="1"/>
          </p:cNvSpPr>
          <p:nvPr>
            <p:ph type="subTitle" idx="7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323" name="Google Shape;323;p38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3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lage elements">
  <p:cSld name="CUSTOM_5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9"/>
          <p:cNvSpPr txBox="1">
            <a:spLocks noGrp="1"/>
          </p:cNvSpPr>
          <p:nvPr>
            <p:ph type="title"/>
          </p:nvPr>
        </p:nvSpPr>
        <p:spPr>
          <a:xfrm>
            <a:off x="342900" y="452925"/>
            <a:ext cx="8354400" cy="15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39"/>
          <p:cNvSpPr txBox="1">
            <a:spLocks noGrp="1"/>
          </p:cNvSpPr>
          <p:nvPr>
            <p:ph type="subTitle" idx="1"/>
          </p:nvPr>
        </p:nvSpPr>
        <p:spPr>
          <a:xfrm>
            <a:off x="342900" y="3868525"/>
            <a:ext cx="1953300" cy="2592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28" name="Google Shape;328;p39"/>
          <p:cNvSpPr txBox="1">
            <a:spLocks noGrp="1"/>
          </p:cNvSpPr>
          <p:nvPr>
            <p:ph type="subTitle" idx="2"/>
          </p:nvPr>
        </p:nvSpPr>
        <p:spPr>
          <a:xfrm>
            <a:off x="2473100" y="3868525"/>
            <a:ext cx="1953300" cy="2592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29" name="Google Shape;329;p39"/>
          <p:cNvSpPr txBox="1">
            <a:spLocks noGrp="1"/>
          </p:cNvSpPr>
          <p:nvPr>
            <p:ph type="subTitle" idx="3"/>
          </p:nvPr>
        </p:nvSpPr>
        <p:spPr>
          <a:xfrm>
            <a:off x="4603300" y="3868525"/>
            <a:ext cx="1953300" cy="2592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0" name="Google Shape;330;p39"/>
          <p:cNvSpPr txBox="1">
            <a:spLocks noGrp="1"/>
          </p:cNvSpPr>
          <p:nvPr>
            <p:ph type="subTitle" idx="4"/>
          </p:nvPr>
        </p:nvSpPr>
        <p:spPr>
          <a:xfrm>
            <a:off x="6733500" y="3868525"/>
            <a:ext cx="1953300" cy="2592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1" name="Google Shape;331;p39"/>
          <p:cNvSpPr txBox="1">
            <a:spLocks noGrp="1"/>
          </p:cNvSpPr>
          <p:nvPr>
            <p:ph type="subTitle" idx="5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sp>
        <p:nvSpPr>
          <p:cNvPr id="332" name="Google Shape;332;p39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3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USTOM_9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0"/>
          <p:cNvSpPr txBox="1">
            <a:spLocks noGrp="1"/>
          </p:cNvSpPr>
          <p:nvPr>
            <p:ph type="body" idx="1"/>
          </p:nvPr>
        </p:nvSpPr>
        <p:spPr>
          <a:xfrm>
            <a:off x="457200" y="3899675"/>
            <a:ext cx="5192400" cy="6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36" name="Google Shape;336;p40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4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2505000"/>
            <a:ext cx="8520600" cy="20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04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04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04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04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04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04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04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04800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 rtl="0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6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pos="5472">
          <p15:clr>
            <a:srgbClr val="E46962"/>
          </p15:clr>
        </p15:guide>
        <p15:guide id="5" orient="horz" pos="2878">
          <p15:clr>
            <a:srgbClr val="E46962"/>
          </p15:clr>
        </p15:guide>
        <p15:guide id="6" pos="554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blp.org/rec/conf/riao/EvansGHLM91?utm_source=chatgpt.com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cs.cmu.edu/~czhai/paper/acl1996-npir.pdf?utm_source=chatgpt.com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2"/>
          <p:cNvSpPr/>
          <p:nvPr/>
        </p:nvSpPr>
        <p:spPr>
          <a:xfrm>
            <a:off x="5631050" y="457200"/>
            <a:ext cx="3432000" cy="366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pic>
        <p:nvPicPr>
          <p:cNvPr id="344" name="Google Shape;344;p42" title="ChatGPT Image Dec 1, 2025, 08_48_29 PM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631050" y="457200"/>
            <a:ext cx="3465326" cy="3660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5" name="Google Shape;345;p4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42"/>
          <p:cNvSpPr txBox="1">
            <a:spLocks noGrp="1"/>
          </p:cNvSpPr>
          <p:nvPr>
            <p:ph type="title"/>
          </p:nvPr>
        </p:nvSpPr>
        <p:spPr>
          <a:xfrm>
            <a:off x="71500" y="286250"/>
            <a:ext cx="4666200" cy="41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Analyzing Healthcare Reviews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IST 332:  NLP Final Project</a:t>
            </a:r>
            <a:endParaRPr sz="800">
              <a:latin typeface="IBM Plex Mono Light"/>
              <a:ea typeface="IBM Plex Mono Light"/>
              <a:cs typeface="IBM Plex Mono Light"/>
              <a:sym typeface="IBM Plex Mono Light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IBM Plex Sans"/>
                <a:ea typeface="IBM Plex Sans"/>
                <a:cs typeface="IBM Plex Sans"/>
                <a:sym typeface="IBM Plex Sans"/>
              </a:rPr>
              <a:t>Group Members</a:t>
            </a:r>
            <a:endParaRPr sz="2000"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Ahmed, Darby, Olga, Soren</a:t>
            </a:r>
            <a:endParaRPr sz="2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347" name="Google Shape;347;p42"/>
          <p:cNvSpPr txBox="1">
            <a:spLocks noGrp="1"/>
          </p:cNvSpPr>
          <p:nvPr>
            <p:ph type="subTitle" idx="1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" dirty="0"/>
              <a:t>Dec 10 2025</a:t>
            </a:r>
            <a:endParaRPr dirty="0"/>
          </a:p>
        </p:txBody>
      </p:sp>
      <p:sp>
        <p:nvSpPr>
          <p:cNvPr id="348" name="Google Shape;348;p42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>
            <a:spLocks noGrp="1"/>
          </p:cNvSpPr>
          <p:nvPr>
            <p:ph type="title"/>
          </p:nvPr>
        </p:nvSpPr>
        <p:spPr>
          <a:xfrm>
            <a:off x="342900" y="1817100"/>
            <a:ext cx="3650700" cy="15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subTitle" idx="1"/>
          </p:nvPr>
        </p:nvSpPr>
        <p:spPr>
          <a:xfrm>
            <a:off x="3062300" y="1550150"/>
            <a:ext cx="1651200" cy="23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09</a:t>
            </a:r>
            <a:endParaRPr/>
          </a:p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  <a:p>
            <a:pPr marL="0" lvl="0" indent="0" algn="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  <a:p>
            <a:pPr marL="0" lvl="0" indent="0" algn="r" rtl="0">
              <a:spcBef>
                <a:spcPts val="400"/>
              </a:spcBef>
              <a:spcAft>
                <a:spcPts val="400"/>
              </a:spcAft>
              <a:buNone/>
            </a:pPr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subTitle" idx="2"/>
          </p:nvPr>
        </p:nvSpPr>
        <p:spPr>
          <a:xfrm>
            <a:off x="4713500" y="1382100"/>
            <a:ext cx="4430400" cy="30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Introduction 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Relevance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Corpus Creation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Text Preprocessing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Data Understanding and Preparation 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Sentiment analysis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Topic modeling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Supervised learning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Deployment Plan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44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100" y="0"/>
            <a:ext cx="91721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4"/>
          <p:cNvSpPr txBox="1"/>
          <p:nvPr/>
        </p:nvSpPr>
        <p:spPr>
          <a:xfrm>
            <a:off x="7694750" y="3616850"/>
            <a:ext cx="13014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We are here</a:t>
            </a:r>
            <a:endParaRPr sz="1200" dirty="0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63" name="Google Shape;363;p44"/>
          <p:cNvSpPr/>
          <p:nvPr/>
        </p:nvSpPr>
        <p:spPr>
          <a:xfrm>
            <a:off x="7582025" y="3104550"/>
            <a:ext cx="799200" cy="338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600" dirty="0">
                <a:latin typeface="IBM Plex Mono Medium"/>
                <a:ea typeface="IBM Plex Mono Medium"/>
                <a:cs typeface="IBM Plex Mono Medium"/>
                <a:sym typeface="IBM Plex Mono Medium"/>
              </a:rPr>
              <a:t>  Introduction</a:t>
            </a:r>
            <a:endParaRPr dirty="0"/>
          </a:p>
        </p:txBody>
      </p:sp>
      <p:sp>
        <p:nvSpPr>
          <p:cNvPr id="369" name="Google Shape;369;p45"/>
          <p:cNvSpPr txBox="1">
            <a:spLocks noGrp="1"/>
          </p:cNvSpPr>
          <p:nvPr>
            <p:ph type="body" idx="2"/>
          </p:nvPr>
        </p:nvSpPr>
        <p:spPr>
          <a:xfrm>
            <a:off x="342975" y="1299825"/>
            <a:ext cx="8471100" cy="22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Healthcare center visits are often stressful and time-sensitive.</a:t>
            </a:r>
            <a:br>
              <a:rPr lang="en"/>
            </a:b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Patient experiences become polarized, leading to mostly 1-star or 5-star reviews.</a:t>
            </a:r>
            <a:br>
              <a:rPr lang="en"/>
            </a:b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Online reviews capture real emotions and detailed experiences.</a:t>
            </a:r>
            <a:br>
              <a:rPr lang="en"/>
            </a:b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Text reviews reveal patterns about wait times, staff behavior, and service quality.</a:t>
            </a:r>
            <a:br>
              <a:rPr lang="en"/>
            </a:b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NLP can use these narratives to predict healthcare center quality.</a:t>
            </a: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457200" algn="l" rtl="0">
              <a:spcBef>
                <a:spcPts val="500"/>
              </a:spcBef>
              <a:spcAft>
                <a:spcPts val="0"/>
              </a:spcAft>
              <a:buNone/>
            </a:pP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0" name="Google Shape;370;p45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71" name="Google Shape;371;p45"/>
          <p:cNvSpPr/>
          <p:nvPr/>
        </p:nvSpPr>
        <p:spPr>
          <a:xfrm>
            <a:off x="390752" y="9430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6"/>
          <p:cNvSpPr txBox="1">
            <a:spLocks noGrp="1"/>
          </p:cNvSpPr>
          <p:nvPr>
            <p:ph type="title"/>
          </p:nvPr>
        </p:nvSpPr>
        <p:spPr>
          <a:xfrm>
            <a:off x="342900" y="588187"/>
            <a:ext cx="8458200" cy="842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IBM Plex Mono Medium"/>
                <a:ea typeface="IBM Plex Mono Medium"/>
                <a:cs typeface="IBM Plex Mono Medium"/>
                <a:sym typeface="IBM Plex Mono Medium"/>
              </a:rPr>
              <a:t>  </a:t>
            </a:r>
            <a:endParaRPr sz="1600" dirty="0"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 b="1" dirty="0">
                <a:latin typeface="IBM Plex Sans"/>
                <a:ea typeface="IBM Plex Sans"/>
                <a:cs typeface="IBM Plex Sans"/>
                <a:sym typeface="IBM Plex Sans"/>
              </a:rPr>
              <a:t>      </a:t>
            </a:r>
            <a:r>
              <a:rPr lang="en" sz="1600" dirty="0">
                <a:latin typeface="IBM Plex Mono Medium"/>
                <a:sym typeface="IBM Plex Mono Medium"/>
              </a:rPr>
              <a:t>Research Questions</a:t>
            </a:r>
            <a:endParaRPr sz="1600" dirty="0">
              <a:latin typeface="IBM Plex Mono Medium"/>
              <a:sym typeface="IBM Plex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600" dirty="0"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sp>
        <p:nvSpPr>
          <p:cNvPr id="377" name="Google Shape;377;p46"/>
          <p:cNvSpPr txBox="1">
            <a:spLocks noGrp="1"/>
          </p:cNvSpPr>
          <p:nvPr>
            <p:ph type="body" idx="2"/>
          </p:nvPr>
        </p:nvSpPr>
        <p:spPr>
          <a:xfrm>
            <a:off x="342975" y="1299825"/>
            <a:ext cx="8471100" cy="22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Primary Question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How well can sentiment analysis and NLP techniques applied to Google Maps patient reviews predict urgent care quality of care ratings?</a:t>
            </a:r>
            <a:endParaRPr/>
          </a:p>
          <a:p>
            <a:pPr marL="457200" marR="0" lvl="0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IBM Plex Sans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Secondary Question 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45720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Can online sentiment predict the overall averaged quality of selected urgent care?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8" name="Google Shape;378;p46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79" name="Google Shape;379;p46"/>
          <p:cNvSpPr/>
          <p:nvPr/>
        </p:nvSpPr>
        <p:spPr>
          <a:xfrm>
            <a:off x="390752" y="922954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>
            <a:spLocks noGrp="1"/>
          </p:cNvSpPr>
          <p:nvPr>
            <p:ph type="title"/>
          </p:nvPr>
        </p:nvSpPr>
        <p:spPr>
          <a:xfrm>
            <a:off x="342900" y="457200"/>
            <a:ext cx="84582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600" dirty="0">
                <a:latin typeface="IBM Plex Mono Medium"/>
                <a:ea typeface="IBM Plex Mono Medium"/>
                <a:cs typeface="IBM Plex Mono Medium"/>
                <a:sym typeface="IBM Plex Mono Medium"/>
              </a:rPr>
              <a:t>  </a:t>
            </a:r>
            <a:r>
              <a:rPr lang="en" sz="1600" dirty="0">
                <a:latin typeface="IBM Plex Mono Medium"/>
                <a:sym typeface="IBM Plex Mono Medium"/>
              </a:rPr>
              <a:t>Relevance</a:t>
            </a:r>
            <a:endParaRPr sz="1600" dirty="0">
              <a:latin typeface="IBM Plex Mono Medium"/>
            </a:endParaRPr>
          </a:p>
        </p:txBody>
      </p:sp>
      <p:sp>
        <p:nvSpPr>
          <p:cNvPr id="385" name="Google Shape;385;p47"/>
          <p:cNvSpPr txBox="1">
            <a:spLocks noGrp="1"/>
          </p:cNvSpPr>
          <p:nvPr>
            <p:ph type="body" idx="2"/>
          </p:nvPr>
        </p:nvSpPr>
        <p:spPr>
          <a:xfrm>
            <a:off x="342975" y="1299825"/>
            <a:ext cx="8471100" cy="22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Dependence on online platforms is increasing for selecting healthcare providers; understanding the factors that drive patient satisfaction is more important than ever.</a:t>
            </a:r>
            <a:endParaRPr dirty="0"/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NLP can help unearth patient decision making and provider efforts to improve urgent care service delivery. This information can prove useful for many stakeholders, employees and healthcare providers included.</a:t>
            </a:r>
            <a:endParaRPr dirty="0"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dirty="0"/>
          </a:p>
        </p:txBody>
      </p:sp>
      <p:sp>
        <p:nvSpPr>
          <p:cNvPr id="386" name="Google Shape;386;p47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87" name="Google Shape;387;p47"/>
          <p:cNvSpPr/>
          <p:nvPr/>
        </p:nvSpPr>
        <p:spPr>
          <a:xfrm>
            <a:off x="390752" y="9430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8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93" name="Google Shape;393;p48"/>
          <p:cNvSpPr txBox="1">
            <a:spLocks noGrp="1"/>
          </p:cNvSpPr>
          <p:nvPr>
            <p:ph type="body" idx="4294967295"/>
          </p:nvPr>
        </p:nvSpPr>
        <p:spPr>
          <a:xfrm>
            <a:off x="336450" y="1200088"/>
            <a:ext cx="8471100" cy="32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Data Source Overview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marR="0" lvl="0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Dataset Source:</a:t>
            </a:r>
            <a:r>
              <a:rPr lang="en"/>
              <a:t> Google Places API</a:t>
            </a:r>
            <a:endParaRPr/>
          </a:p>
          <a:p>
            <a:pPr marL="457200" marR="0" lvl="0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Reason for Selection: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914400" marR="0" lvl="1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○"/>
            </a:pPr>
            <a:r>
              <a:rPr lang="en"/>
              <a:t>Free public source with structured access</a:t>
            </a:r>
            <a:endParaRPr/>
          </a:p>
          <a:p>
            <a:pPr marL="914400" marR="0" lvl="1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○"/>
            </a:pPr>
            <a:r>
              <a:rPr lang="en"/>
              <a:t>Large number of user-generated reviews</a:t>
            </a:r>
            <a:endParaRPr/>
          </a:p>
          <a:p>
            <a:pPr marL="914400" marR="0" lvl="1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○"/>
            </a:pPr>
            <a:r>
              <a:rPr lang="en"/>
              <a:t>Consistent metadata and clear documentation</a:t>
            </a:r>
            <a:endParaRPr/>
          </a:p>
          <a:p>
            <a:pPr marL="457200" marR="0" lvl="0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Focus of Dataset:</a:t>
            </a:r>
            <a:endParaRPr/>
          </a:p>
          <a:p>
            <a:pPr marL="914400" marR="0" lvl="1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○"/>
            </a:pPr>
            <a:r>
              <a:rPr lang="en"/>
              <a:t>Patient reviews for urgent care centers</a:t>
            </a:r>
            <a:endParaRPr/>
          </a:p>
          <a:p>
            <a:pPr marL="914400" marR="0" lvl="1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○"/>
            </a:pPr>
            <a:r>
              <a:rPr lang="en"/>
              <a:t>Locations across multiple California cities</a:t>
            </a: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  <p:sp>
        <p:nvSpPr>
          <p:cNvPr id="395" name="Google Shape;395;p48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6" name="Google Shape;396;p48" title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200" y="705400"/>
            <a:ext cx="3872575" cy="387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11;p50">
            <a:extLst>
              <a:ext uri="{FF2B5EF4-FFF2-40B4-BE49-F238E27FC236}">
                <a16:creationId xmlns:a16="http://schemas.microsoft.com/office/drawing/2014/main" id="{592606A0-D4C0-DF19-E5C2-FBD1EA89253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3389" y="567238"/>
            <a:ext cx="37284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>
              <a:lnSpc>
                <a:spcPct val="100000"/>
              </a:lnSpc>
            </a:pPr>
            <a:r>
              <a:rPr lang="en" sz="1600" dirty="0">
                <a:latin typeface="IBM Plex Mono Medium"/>
                <a:sym typeface="IBM Plex Sans Light"/>
              </a:rPr>
              <a:t>Corpus Creation</a:t>
            </a:r>
            <a:endParaRPr sz="1600" dirty="0">
              <a:latin typeface="IBM Plex Mono Medium"/>
              <a:sym typeface="IBM Plex Sans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9"/>
          <p:cNvSpPr txBox="1">
            <a:spLocks noGrp="1"/>
          </p:cNvSpPr>
          <p:nvPr>
            <p:ph type="body" idx="5"/>
          </p:nvPr>
        </p:nvSpPr>
        <p:spPr>
          <a:xfrm>
            <a:off x="342975" y="1166100"/>
            <a:ext cx="8458200" cy="39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Data Collection Workflow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Tools used: </a:t>
            </a:r>
            <a:r>
              <a:rPr lang="en"/>
              <a:t>Google Place API + Python</a:t>
            </a: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Main Steps 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○"/>
            </a:pPr>
            <a:r>
              <a:rPr lang="en"/>
              <a:t>Create a list of locations (cities) across California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○"/>
            </a:pPr>
            <a:r>
              <a:rPr lang="en"/>
              <a:t>Convert each city name into geographic coordinates using the Geocoding API.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○"/>
            </a:pPr>
            <a:r>
              <a:rPr lang="en"/>
              <a:t>Use these coordinates as the center point for Places searches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○"/>
            </a:pPr>
            <a:r>
              <a:rPr lang="en"/>
              <a:t>For each city, query the Places Text Search API with terms such as:</a:t>
            </a:r>
            <a:br>
              <a:rPr lang="en"/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■"/>
            </a:pPr>
            <a:r>
              <a:rPr lang="en"/>
              <a:t>“urgent care”</a:t>
            </a:r>
            <a:endParaRPr/>
          </a:p>
          <a:p>
            <a:pPr marL="1371600" marR="0" lvl="2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■"/>
            </a:pPr>
            <a:r>
              <a:rPr lang="en"/>
              <a:t>“walk-in clinic”</a:t>
            </a:r>
            <a:endParaRPr/>
          </a:p>
          <a:p>
            <a:pPr marL="1371600" marR="0" lvl="2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■"/>
            </a:pPr>
            <a:r>
              <a:rPr lang="en"/>
              <a:t>“medical clinic”</a:t>
            </a:r>
            <a:endParaRPr/>
          </a:p>
          <a:p>
            <a:pPr marL="1371600" marR="0" lvl="2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■"/>
            </a:pPr>
            <a:r>
              <a:rPr lang="en"/>
              <a:t>“emergency clinic”</a:t>
            </a:r>
            <a:br>
              <a:rPr lang="en"/>
            </a:br>
            <a:endParaRPr/>
          </a:p>
          <a:p>
            <a:pPr marL="914400" marR="0" lvl="1" indent="-304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○"/>
            </a:pPr>
            <a:r>
              <a:rPr lang="en"/>
              <a:t>Collect reviews from all matched healthcare centers.</a:t>
            </a: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Dataset Size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Total Raw Reviews: </a:t>
            </a:r>
            <a:r>
              <a:rPr lang="en"/>
              <a:t>12,091</a:t>
            </a:r>
            <a:endParaRPr/>
          </a:p>
          <a:p>
            <a:pPr marL="45720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2" name="Google Shape;402;p49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404" name="Google Shape;404;p49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11;p50">
            <a:extLst>
              <a:ext uri="{FF2B5EF4-FFF2-40B4-BE49-F238E27FC236}">
                <a16:creationId xmlns:a16="http://schemas.microsoft.com/office/drawing/2014/main" id="{16ED313D-4C10-B76D-AC51-EE77F4B557E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3389" y="567238"/>
            <a:ext cx="37284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457200">
              <a:lnSpc>
                <a:spcPct val="100000"/>
              </a:lnSpc>
              <a:buSzPts val="800"/>
            </a:pPr>
            <a:r>
              <a:rPr lang="en" sz="1600" dirty="0">
                <a:latin typeface="IBM Plex Mono Medium"/>
                <a:sym typeface="IBM Plex Mono Light"/>
              </a:rPr>
              <a:t>Corpus Creation (</a:t>
            </a:r>
            <a:r>
              <a:rPr lang="en" sz="1600" dirty="0" err="1">
                <a:latin typeface="IBM Plex Mono Medium"/>
                <a:sym typeface="IBM Plex Mono Light"/>
              </a:rPr>
              <a:t>contd</a:t>
            </a:r>
            <a:r>
              <a:rPr lang="en" sz="1600" dirty="0">
                <a:latin typeface="IBM Plex Mono Medium"/>
                <a:sym typeface="IBM Plex Mono Light"/>
              </a:rPr>
              <a:t>)</a:t>
            </a:r>
            <a:endParaRPr sz="1600" dirty="0">
              <a:latin typeface="IBM Plex Mono Medium"/>
              <a:sym typeface="IBM Plex Mono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0"/>
          <p:cNvSpPr txBox="1">
            <a:spLocks noGrp="1"/>
          </p:cNvSpPr>
          <p:nvPr>
            <p:ph type="body" idx="5"/>
          </p:nvPr>
        </p:nvSpPr>
        <p:spPr>
          <a:xfrm>
            <a:off x="342975" y="1166100"/>
            <a:ext cx="8458200" cy="36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IBM Plex Sans"/>
                <a:ea typeface="IBM Plex Sans"/>
                <a:cs typeface="IBM Plex Sans"/>
                <a:sym typeface="IBM Plex Sans"/>
              </a:rPr>
              <a:t>Ethical considerations and permissions</a:t>
            </a:r>
            <a:endParaRPr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Data comes only from public Google Maps business listings.</a:t>
            </a: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Accessed through official APIs (no scraping).</a:t>
            </a: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Only review text and ratings are analyzed.</a:t>
            </a: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No attempt is made to identify or track individuals.</a:t>
            </a: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Dataset is used strictly for academic project purposes.</a:t>
            </a:r>
            <a:endParaRPr dirty="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45720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b="1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0" name="Google Shape;410;p50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411" name="Google Shape;411;p50"/>
          <p:cNvSpPr txBox="1">
            <a:spLocks noGrp="1"/>
          </p:cNvSpPr>
          <p:nvPr>
            <p:ph type="subTitle" idx="1"/>
          </p:nvPr>
        </p:nvSpPr>
        <p:spPr>
          <a:xfrm>
            <a:off x="253389" y="567238"/>
            <a:ext cx="37284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>
              <a:lnSpc>
                <a:spcPct val="100000"/>
              </a:lnSpc>
              <a:buSzPts val="800"/>
            </a:pPr>
            <a:r>
              <a:rPr lang="en" sz="1600" dirty="0">
                <a:latin typeface="IBM Plex Mono Medium"/>
              </a:rPr>
              <a:t>Corpus Creation (</a:t>
            </a:r>
            <a:r>
              <a:rPr lang="en" sz="1600" dirty="0" err="1">
                <a:latin typeface="IBM Plex Mono Medium"/>
              </a:rPr>
              <a:t>contd</a:t>
            </a:r>
            <a:r>
              <a:rPr lang="en" sz="1600" dirty="0">
                <a:latin typeface="IBM Plex Mono Medium"/>
              </a:rPr>
              <a:t>)</a:t>
            </a:r>
            <a:endParaRPr sz="1600" dirty="0">
              <a:latin typeface="IBM Plex Mono Medium"/>
            </a:endParaRPr>
          </a:p>
        </p:txBody>
      </p:sp>
      <p:sp>
        <p:nvSpPr>
          <p:cNvPr id="412" name="Google Shape;412;p50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1"/>
          <p:cNvSpPr txBox="1">
            <a:spLocks noGrp="1"/>
          </p:cNvSpPr>
          <p:nvPr>
            <p:ph type="subTitle" idx="1"/>
          </p:nvPr>
        </p:nvSpPr>
        <p:spPr>
          <a:xfrm>
            <a:off x="342900" y="567238"/>
            <a:ext cx="37284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457200">
              <a:lnSpc>
                <a:spcPct val="100000"/>
              </a:lnSpc>
              <a:buSzPts val="800"/>
            </a:pPr>
            <a:r>
              <a:rPr lang="en" sz="1600" dirty="0">
                <a:latin typeface="IBM Plex Mono Medium"/>
              </a:rPr>
              <a:t>Corpus Creation (</a:t>
            </a:r>
            <a:r>
              <a:rPr lang="en" sz="1600" dirty="0" err="1">
                <a:latin typeface="IBM Plex Mono Medium"/>
              </a:rPr>
              <a:t>contd</a:t>
            </a:r>
            <a:r>
              <a:rPr lang="en" sz="1600" dirty="0">
                <a:latin typeface="IBM Plex Mono Medium"/>
              </a:rPr>
              <a:t>)</a:t>
            </a:r>
            <a:endParaRPr sz="1600" dirty="0">
              <a:latin typeface="IBM Plex Mono Medium"/>
            </a:endParaRPr>
          </a:p>
        </p:txBody>
      </p:sp>
      <p:sp>
        <p:nvSpPr>
          <p:cNvPr id="418" name="Google Shape;418;p51"/>
          <p:cNvSpPr txBox="1">
            <a:spLocks noGrp="1"/>
          </p:cNvSpPr>
          <p:nvPr>
            <p:ph type="body" idx="5"/>
          </p:nvPr>
        </p:nvSpPr>
        <p:spPr>
          <a:xfrm>
            <a:off x="342900" y="892263"/>
            <a:ext cx="8729700" cy="39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Metadata Summary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9" name="Google Shape;419;p51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420" name="Google Shape;420;p51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21" name="Google Shape;421;p51"/>
          <p:cNvGraphicFramePr/>
          <p:nvPr/>
        </p:nvGraphicFramePr>
        <p:xfrm>
          <a:off x="342900" y="1288975"/>
          <a:ext cx="7985150" cy="3809978"/>
        </p:xfrm>
        <a:graphic>
          <a:graphicData uri="http://schemas.openxmlformats.org/drawingml/2006/table">
            <a:tbl>
              <a:tblPr>
                <a:noFill/>
                <a:tableStyleId>{7A07705B-5D18-457A-A06C-3EAC3D1E9904}</a:tableStyleId>
              </a:tblPr>
              <a:tblGrid>
                <a:gridCol w="261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Feature</a:t>
                      </a:r>
                      <a:endParaRPr sz="11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Description</a:t>
                      </a:r>
                      <a:endParaRPr sz="11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Place ID</a:t>
                      </a:r>
                      <a:endParaRPr sz="11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Unique Google identifier for the urgent care center</a:t>
                      </a:r>
                      <a:endParaRPr sz="11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Place Name</a:t>
                      </a:r>
                      <a:endParaRPr sz="11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Business name as shown on Google Maps</a:t>
                      </a:r>
                      <a:endParaRPr sz="11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Place_address</a:t>
                      </a:r>
                      <a:endParaRPr sz="11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Full address of the urgent care</a:t>
                      </a:r>
                      <a:endParaRPr sz="11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Place_avg_rating</a:t>
                      </a:r>
                      <a:endParaRPr sz="11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Overall Google rating for the urgent care</a:t>
                      </a:r>
                      <a:endParaRPr sz="11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Place_user_ratings_total</a:t>
                      </a:r>
                      <a:endParaRPr sz="11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Total number of ratings the urgent care has received</a:t>
                      </a:r>
                      <a:endParaRPr sz="11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Place_types</a:t>
                      </a:r>
                      <a:endParaRPr sz="11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Categories that describe the type of business </a:t>
                      </a:r>
                      <a:endParaRPr sz="11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Review_rating</a:t>
                      </a:r>
                      <a:endParaRPr sz="11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Rating given by the reviewer (1–5)</a:t>
                      </a:r>
                      <a:endParaRPr sz="11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Review_text</a:t>
                      </a:r>
                      <a:endParaRPr sz="11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Free-text patient feedback</a:t>
                      </a:r>
                      <a:endParaRPr sz="11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review_relative_time_description</a:t>
                      </a:r>
                      <a:endParaRPr sz="11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How long ago the review was written (e.g., “2 months ago”)</a:t>
                      </a:r>
                      <a:endParaRPr sz="11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2"/>
          <p:cNvSpPr txBox="1">
            <a:spLocks noGrp="1"/>
          </p:cNvSpPr>
          <p:nvPr>
            <p:ph type="title"/>
          </p:nvPr>
        </p:nvSpPr>
        <p:spPr>
          <a:xfrm>
            <a:off x="342900" y="439413"/>
            <a:ext cx="35196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457200">
              <a:buSzPts val="800"/>
            </a:pPr>
            <a:r>
              <a:rPr lang="en" sz="1600" dirty="0">
                <a:latin typeface="IBM Plex Mono Medium"/>
                <a:sym typeface="IBM Plex Mono Medium"/>
              </a:rPr>
              <a:t>Text Preprocessing</a:t>
            </a:r>
            <a:endParaRPr sz="1600" dirty="0">
              <a:latin typeface="IBM Plex Mono Medium"/>
              <a:sym typeface="IBM Plex Mono Medium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sp>
        <p:nvSpPr>
          <p:cNvPr id="427" name="Google Shape;427;p52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428" name="Google Shape;428;p52"/>
          <p:cNvSpPr/>
          <p:nvPr/>
        </p:nvSpPr>
        <p:spPr>
          <a:xfrm>
            <a:off x="542825" y="595869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52"/>
          <p:cNvSpPr txBox="1">
            <a:spLocks noGrp="1"/>
          </p:cNvSpPr>
          <p:nvPr>
            <p:ph type="body" idx="4294967295"/>
          </p:nvPr>
        </p:nvSpPr>
        <p:spPr>
          <a:xfrm>
            <a:off x="228600" y="892275"/>
            <a:ext cx="8727900" cy="39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Goal: </a:t>
            </a:r>
            <a:r>
              <a:rPr lang="en"/>
              <a:t>standardize and clean text for NLP tasks</a:t>
            </a:r>
            <a:endParaRPr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  <p:graphicFrame>
        <p:nvGraphicFramePr>
          <p:cNvPr id="430" name="Google Shape;430;p52"/>
          <p:cNvGraphicFramePr/>
          <p:nvPr/>
        </p:nvGraphicFramePr>
        <p:xfrm>
          <a:off x="342900" y="1428750"/>
          <a:ext cx="8613600" cy="2286000"/>
        </p:xfrm>
        <a:graphic>
          <a:graphicData uri="http://schemas.openxmlformats.org/drawingml/2006/table">
            <a:tbl>
              <a:tblPr>
                <a:noFill/>
                <a:tableStyleId>{7A07705B-5D18-457A-A06C-3EAC3D1E9904}</a:tableStyleId>
              </a:tblPr>
              <a:tblGrid>
                <a:gridCol w="43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Core Cleaning Steps</a:t>
                      </a:r>
                      <a:endParaRPr sz="12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Token-Level Processing</a:t>
                      </a:r>
                      <a:endParaRPr sz="12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Remove empty and missing reviews (433 removed)</a:t>
                      </a:r>
                      <a:endParaRPr sz="12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Tokenization using spaCy</a:t>
                      </a:r>
                      <a:endParaRPr sz="12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Lowercase all text</a:t>
                      </a:r>
                      <a:endParaRPr sz="12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Remove URLs, symbols, and punctuation</a:t>
                      </a:r>
                      <a:endParaRPr sz="12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Contraction Expansion </a:t>
                      </a:r>
                      <a:endParaRPr sz="12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Remove stopwords to focus on meaningful words</a:t>
                      </a:r>
                      <a:endParaRPr sz="12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Expansion of medical abbreviations (dr → doctor)</a:t>
                      </a:r>
                      <a:endParaRPr sz="12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Remove tokens with digits or fewer than two characters</a:t>
                      </a:r>
                      <a:endParaRPr sz="12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Remove doctor names to avoid noise and protect identity</a:t>
                      </a:r>
                      <a:endParaRPr sz="12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Apply lemmatization to convert words to base forms</a:t>
                      </a:r>
                      <a:endParaRPr sz="1200">
                        <a:solidFill>
                          <a:schemeClr val="dk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"/>
          <p:cNvSpPr txBox="1">
            <a:spLocks noGrp="1"/>
          </p:cNvSpPr>
          <p:nvPr>
            <p:ph type="body" idx="5"/>
          </p:nvPr>
        </p:nvSpPr>
        <p:spPr>
          <a:xfrm>
            <a:off x="342975" y="1166100"/>
            <a:ext cx="8458200" cy="39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IBM Plex Sans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Potential Data Issues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Missing values in the review_text field</a:t>
            </a:r>
            <a:endParaRPr/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Doctor names appearing in many reviews</a:t>
            </a:r>
            <a:endParaRPr/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How We Handled Them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Removed missing reviews to keep only complete and usable data</a:t>
            </a:r>
            <a:endParaRPr/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Removed doctor names to reduce noise and avoid personal identifiers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Summary Statistics </a:t>
            </a:r>
            <a:endParaRPr/>
          </a:p>
          <a:p>
            <a:pPr marL="457200" lvl="0" indent="-304800" algn="l" rtl="0">
              <a:spcBef>
                <a:spcPts val="500"/>
              </a:spcBef>
              <a:spcAft>
                <a:spcPts val="0"/>
              </a:spcAft>
              <a:buSzPts val="1200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Total raw reviews: </a:t>
            </a:r>
            <a:r>
              <a:rPr lang="en"/>
              <a:t>12,091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Usable reviews after cleaning:</a:t>
            </a:r>
            <a:r>
              <a:rPr lang="en"/>
              <a:t> 11,658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Final vocabulary: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15,798 unique terms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Average Tokens per Review: </a:t>
            </a:r>
            <a:r>
              <a:rPr lang="en"/>
              <a:t>~42 tokens per review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●"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Top 20 Most Frequent Words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doctor, care, go, time, get, take, wait, make, see, patient, appointment, would, need, come, urgent, call, say, experience, tell, medical</a:t>
            </a: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0"/>
              </a:spcBef>
              <a:spcAft>
                <a:spcPts val="500"/>
              </a:spcAft>
              <a:buNone/>
            </a:pPr>
            <a:endParaRPr/>
          </a:p>
        </p:txBody>
      </p:sp>
      <p:sp>
        <p:nvSpPr>
          <p:cNvPr id="436" name="Google Shape;436;p53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437" name="Google Shape;437;p53"/>
          <p:cNvSpPr txBox="1">
            <a:spLocks noGrp="1"/>
          </p:cNvSpPr>
          <p:nvPr>
            <p:ph type="subTitle" idx="1"/>
          </p:nvPr>
        </p:nvSpPr>
        <p:spPr>
          <a:xfrm>
            <a:off x="273650" y="551400"/>
            <a:ext cx="7040400" cy="6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>
              <a:lnSpc>
                <a:spcPct val="100000"/>
              </a:lnSpc>
              <a:buSzPts val="800"/>
            </a:pPr>
            <a:r>
              <a:rPr lang="en" sz="1600" dirty="0">
                <a:latin typeface="IBM Plex Mono Medium"/>
              </a:rPr>
              <a:t>Data Understanding and Preparation </a:t>
            </a:r>
            <a:endParaRPr sz="1600" dirty="0">
              <a:latin typeface="IBM Plex Mono Medium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438" name="Google Shape;438;p53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>
            <a:spLocks noGrp="1"/>
          </p:cNvSpPr>
          <p:nvPr>
            <p:ph type="body" idx="5"/>
          </p:nvPr>
        </p:nvSpPr>
        <p:spPr>
          <a:xfrm>
            <a:off x="342975" y="1166100"/>
            <a:ext cx="8458200" cy="397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IBM Plex Sans"/>
                <a:ea typeface="IBM Plex Sans"/>
                <a:cs typeface="IBM Plex Sans"/>
                <a:sym typeface="IBM Plex Sans"/>
              </a:rPr>
              <a:t>Summary Statistics </a:t>
            </a: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/>
          </a:p>
        </p:txBody>
      </p:sp>
      <p:sp>
        <p:nvSpPr>
          <p:cNvPr id="444" name="Google Shape;444;p54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445" name="Google Shape;445;p54"/>
          <p:cNvSpPr txBox="1">
            <a:spLocks noGrp="1"/>
          </p:cNvSpPr>
          <p:nvPr>
            <p:ph type="subTitle" idx="1"/>
          </p:nvPr>
        </p:nvSpPr>
        <p:spPr>
          <a:xfrm>
            <a:off x="253700" y="551400"/>
            <a:ext cx="5880600" cy="6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457200">
              <a:lnSpc>
                <a:spcPct val="100000"/>
              </a:lnSpc>
              <a:buSzPts val="800"/>
            </a:pPr>
            <a:r>
              <a:rPr lang="en" sz="1600" dirty="0">
                <a:latin typeface="IBM Plex Mono Medium"/>
              </a:rPr>
              <a:t>Data Understanding and Preparation (</a:t>
            </a:r>
            <a:r>
              <a:rPr lang="en" sz="1600" dirty="0" err="1">
                <a:latin typeface="IBM Plex Mono Medium"/>
              </a:rPr>
              <a:t>contd</a:t>
            </a:r>
            <a:r>
              <a:rPr lang="en" sz="1600" dirty="0">
                <a:latin typeface="IBM Plex Mono Medium"/>
              </a:rPr>
              <a:t>)</a:t>
            </a:r>
            <a:endParaRPr sz="1600" dirty="0">
              <a:latin typeface="IBM Plex Mono Medium"/>
            </a:endParaRPr>
          </a:p>
        </p:txBody>
      </p:sp>
      <p:sp>
        <p:nvSpPr>
          <p:cNvPr id="446" name="Google Shape;446;p54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47" name="Google Shape;447;p54"/>
          <p:cNvGraphicFramePr/>
          <p:nvPr/>
        </p:nvGraphicFramePr>
        <p:xfrm>
          <a:off x="605600" y="1586800"/>
          <a:ext cx="7239000" cy="3258825"/>
        </p:xfrm>
        <a:graphic>
          <a:graphicData uri="http://schemas.openxmlformats.org/drawingml/2006/table">
            <a:tbl>
              <a:tblPr>
                <a:noFill/>
                <a:tableStyleId>{7A07705B-5D18-457A-A06C-3EAC3D1E9904}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4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           STAR RATING DISTRIBUTION</a:t>
                      </a:r>
                      <a:endParaRPr sz="1000" b="1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          </a:t>
                      </a:r>
                      <a:endParaRPr sz="1000" b="1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                     LEXICAL Diversity </a:t>
                      </a:r>
                      <a:endParaRPr sz="1000" b="1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  <a:p>
                      <a:pPr marL="0" lvl="0" indent="0" algn="l" rtl="0"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48" name="Google Shape;448;p54"/>
          <p:cNvPicPr preferRelativeResize="0"/>
          <p:nvPr/>
        </p:nvPicPr>
        <p:blipFill rotWithShape="1">
          <a:blip r:embed="rId3">
            <a:alphaModFix/>
          </a:blip>
          <a:srcRect l="960"/>
          <a:stretch/>
        </p:blipFill>
        <p:spPr>
          <a:xfrm>
            <a:off x="4704475" y="2102500"/>
            <a:ext cx="3753480" cy="269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54"/>
          <p:cNvPicPr preferRelativeResize="0"/>
          <p:nvPr/>
        </p:nvPicPr>
        <p:blipFill rotWithShape="1">
          <a:blip r:embed="rId4">
            <a:alphaModFix/>
          </a:blip>
          <a:srcRect l="1118" t="1251" r="804" b="977"/>
          <a:stretch/>
        </p:blipFill>
        <p:spPr>
          <a:xfrm>
            <a:off x="457200" y="2102500"/>
            <a:ext cx="3842300" cy="269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5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455" name="Google Shape;455;p55"/>
          <p:cNvSpPr txBox="1">
            <a:spLocks noGrp="1"/>
          </p:cNvSpPr>
          <p:nvPr>
            <p:ph type="subTitle" idx="1"/>
          </p:nvPr>
        </p:nvSpPr>
        <p:spPr>
          <a:xfrm>
            <a:off x="223243" y="556432"/>
            <a:ext cx="6549345" cy="4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>
              <a:lnSpc>
                <a:spcPct val="100000"/>
              </a:lnSpc>
              <a:buSzPts val="800"/>
            </a:pPr>
            <a:r>
              <a:rPr lang="en" sz="1600" dirty="0">
                <a:latin typeface="IBM Plex Mono Medium"/>
              </a:rPr>
              <a:t>Data Understanding and Preparation (</a:t>
            </a:r>
            <a:r>
              <a:rPr lang="en" sz="1600" dirty="0" err="1">
                <a:latin typeface="IBM Plex Mono Medium"/>
              </a:rPr>
              <a:t>contd</a:t>
            </a:r>
            <a:r>
              <a:rPr lang="en" sz="1600" dirty="0">
                <a:latin typeface="IBM Plex Mono Medium"/>
              </a:rPr>
              <a:t>)</a:t>
            </a:r>
            <a:endParaRPr sz="1600" dirty="0">
              <a:latin typeface="IBM Plex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456" name="Google Shape;456;p55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55"/>
          <p:cNvSpPr txBox="1">
            <a:spLocks noGrp="1"/>
          </p:cNvSpPr>
          <p:nvPr>
            <p:ph type="body" idx="5"/>
          </p:nvPr>
        </p:nvSpPr>
        <p:spPr>
          <a:xfrm>
            <a:off x="342900" y="1118475"/>
            <a:ext cx="8458200" cy="36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IBM Plex Sans"/>
                <a:ea typeface="IBM Plex Sans"/>
                <a:cs typeface="IBM Plex Sans"/>
                <a:sym typeface="IBM Plex Sans"/>
              </a:rPr>
              <a:t>Data Preparation for Downstream Tasks</a:t>
            </a:r>
            <a:endParaRPr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IBM Plex Sans"/>
              <a:buChar char="●"/>
            </a:pPr>
            <a:r>
              <a:rPr lang="en" b="1" dirty="0">
                <a:latin typeface="IBM Plex Sans"/>
                <a:ea typeface="IBM Plex Sans"/>
                <a:cs typeface="IBM Plex Sans"/>
                <a:sym typeface="IBM Plex Sans"/>
              </a:rPr>
              <a:t>Sentiment Analysis</a:t>
            </a:r>
            <a:endParaRPr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Use  minimal cleaned review text, including  expand contractions/medical abbreviations, lowercase text, and remove doctor names.</a:t>
            </a:r>
            <a:endParaRPr dirty="0"/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●"/>
            </a:pPr>
            <a:r>
              <a:rPr lang="en" b="1" dirty="0">
                <a:latin typeface="IBM Plex Sans"/>
                <a:ea typeface="IBM Plex Sans"/>
                <a:cs typeface="IBM Plex Sans"/>
                <a:sym typeface="IBM Plex Sans"/>
              </a:rPr>
              <a:t>Topic Modeling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○"/>
            </a:pPr>
            <a:r>
              <a:rPr lang="en" dirty="0"/>
              <a:t>Use  fully cleaned review text, including tokenization, URL and symbols removal, </a:t>
            </a:r>
            <a:r>
              <a:rPr lang="en" dirty="0" err="1"/>
              <a:t>stopwords</a:t>
            </a:r>
            <a:r>
              <a:rPr lang="en" dirty="0"/>
              <a:t> removal, lemmatization, </a:t>
            </a:r>
            <a:endParaRPr dirty="0"/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●"/>
            </a:pPr>
            <a:r>
              <a:rPr lang="en" b="1" dirty="0">
                <a:latin typeface="IBM Plex Sans"/>
                <a:ea typeface="IBM Plex Sans"/>
                <a:cs typeface="IBM Plex Sans"/>
                <a:sym typeface="IBM Plex Sans"/>
              </a:rPr>
              <a:t>Supervised Learning</a:t>
            </a:r>
            <a:endParaRPr dirty="0"/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Use the same fully cleaned review text; </a:t>
            </a:r>
            <a:r>
              <a:rPr lang="en" dirty="0" err="1"/>
              <a:t>review_rating</a:t>
            </a:r>
            <a:r>
              <a:rPr lang="en" dirty="0"/>
              <a:t> as the target label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6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463" name="Google Shape;463;p56"/>
          <p:cNvSpPr txBox="1">
            <a:spLocks noGrp="1"/>
          </p:cNvSpPr>
          <p:nvPr>
            <p:ph type="subTitle" idx="1"/>
          </p:nvPr>
        </p:nvSpPr>
        <p:spPr>
          <a:xfrm>
            <a:off x="645275" y="551375"/>
            <a:ext cx="5670000" cy="4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IBM Plex Mono Medium"/>
              </a:rPr>
              <a:t>Data Understanding</a:t>
            </a:r>
            <a:endParaRPr sz="1600" dirty="0">
              <a:latin typeface="IBM Plex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464" name="Google Shape;464;p56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5" name="Google Shape;46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588" y="960575"/>
            <a:ext cx="7522820" cy="387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7"/>
          <p:cNvSpPr txBox="1">
            <a:spLocks noGrp="1"/>
          </p:cNvSpPr>
          <p:nvPr>
            <p:ph type="body" idx="5"/>
          </p:nvPr>
        </p:nvSpPr>
        <p:spPr>
          <a:xfrm>
            <a:off x="342975" y="1166100"/>
            <a:ext cx="8458200" cy="36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Positive: 8511</a:t>
            </a:r>
            <a:endParaRPr dirty="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dirty="0"/>
              <a:t>Negative: 2944</a:t>
            </a:r>
            <a:endParaRPr dirty="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dirty="0"/>
              <a:t>Neutral: 198</a:t>
            </a:r>
            <a:endParaRPr dirty="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45720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b="1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1" name="Google Shape;471;p57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472" name="Google Shape;472;p57"/>
          <p:cNvSpPr txBox="1">
            <a:spLocks noGrp="1"/>
          </p:cNvSpPr>
          <p:nvPr>
            <p:ph type="subTitle" idx="1"/>
          </p:nvPr>
        </p:nvSpPr>
        <p:spPr>
          <a:xfrm>
            <a:off x="645275" y="551375"/>
            <a:ext cx="37284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600" dirty="0">
                <a:latin typeface="IBM Plex Mono Medium"/>
              </a:rPr>
              <a:t>Sentiment Analysis</a:t>
            </a:r>
            <a:endParaRPr sz="1600" dirty="0">
              <a:latin typeface="IBM Plex Mono Medium"/>
            </a:endParaRPr>
          </a:p>
        </p:txBody>
      </p:sp>
      <p:sp>
        <p:nvSpPr>
          <p:cNvPr id="473" name="Google Shape;473;p57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4" name="Google Shape;474;p57" title="Screenshot 2025-12-10 1100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6025" y="1096822"/>
            <a:ext cx="6535075" cy="320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8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480" name="Google Shape;480;p58"/>
          <p:cNvSpPr txBox="1">
            <a:spLocks noGrp="1"/>
          </p:cNvSpPr>
          <p:nvPr>
            <p:ph type="subTitle" idx="1"/>
          </p:nvPr>
        </p:nvSpPr>
        <p:spPr>
          <a:xfrm>
            <a:off x="645275" y="551375"/>
            <a:ext cx="37284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600" dirty="0">
                <a:latin typeface="IBM Plex Mono Medium"/>
              </a:rPr>
              <a:t>Sentiment Analysis (</a:t>
            </a:r>
            <a:r>
              <a:rPr lang="en" sz="1600" dirty="0" err="1">
                <a:latin typeface="IBM Plex Mono Medium"/>
              </a:rPr>
              <a:t>contd</a:t>
            </a:r>
            <a:r>
              <a:rPr lang="en" sz="1600" dirty="0">
                <a:latin typeface="IBM Plex Mono Medium"/>
              </a:rPr>
              <a:t>)</a:t>
            </a:r>
            <a:endParaRPr sz="1600" dirty="0">
              <a:latin typeface="IBM Plex Mono Medium"/>
            </a:endParaRPr>
          </a:p>
        </p:txBody>
      </p:sp>
      <p:sp>
        <p:nvSpPr>
          <p:cNvPr id="481" name="Google Shape;481;p58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2" name="Google Shape;48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963" y="3268369"/>
            <a:ext cx="3648075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8"/>
          <p:cNvSpPr txBox="1"/>
          <p:nvPr/>
        </p:nvSpPr>
        <p:spPr>
          <a:xfrm>
            <a:off x="342900" y="1138575"/>
            <a:ext cx="8216100" cy="19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- H0 (Null Hypothesis):</a:t>
            </a:r>
            <a:br>
              <a:rPr lang="en" sz="12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There is no relationship between sentiment polarity and review ratings.</a:t>
            </a:r>
            <a:endParaRPr sz="1200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- H1 (Alternative Hypothesis):</a:t>
            </a:r>
            <a:br>
              <a:rPr lang="en" sz="12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Higher polarity (more positive sentiment) is associated with higher review ratings.</a:t>
            </a:r>
            <a:endParaRPr sz="1200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 the Hypothesis (Using Correlation)</a:t>
            </a:r>
            <a:endParaRPr sz="12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The Correlation between polarity and review_rating were used to test the hypothesis. The correlation between polarity and review rating is 0.6768, which indicates a strong positive relationship.</a:t>
            </a:r>
            <a:endParaRPr sz="1200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9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489" name="Google Shape;489;p59"/>
          <p:cNvSpPr txBox="1">
            <a:spLocks noGrp="1"/>
          </p:cNvSpPr>
          <p:nvPr>
            <p:ph type="subTitle" idx="1"/>
          </p:nvPr>
        </p:nvSpPr>
        <p:spPr>
          <a:xfrm>
            <a:off x="645275" y="551375"/>
            <a:ext cx="37284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600" dirty="0">
                <a:latin typeface="IBM Plex Mono Medium"/>
              </a:rPr>
              <a:t>Sentiment Analysis (</a:t>
            </a:r>
            <a:r>
              <a:rPr lang="en" sz="1600" dirty="0" err="1">
                <a:latin typeface="IBM Plex Mono Medium"/>
              </a:rPr>
              <a:t>contd</a:t>
            </a:r>
            <a:r>
              <a:rPr lang="en" sz="1600" dirty="0">
                <a:latin typeface="IBM Plex Mono Medium"/>
              </a:rPr>
              <a:t>)</a:t>
            </a:r>
            <a:endParaRPr sz="1600" dirty="0">
              <a:latin typeface="IBM Plex Mono Medium"/>
            </a:endParaRPr>
          </a:p>
        </p:txBody>
      </p:sp>
      <p:sp>
        <p:nvSpPr>
          <p:cNvPr id="490" name="Google Shape;490;p59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1" name="Google Shape;49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45913"/>
            <a:ext cx="8839200" cy="1851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0"/>
          <p:cNvSpPr txBox="1">
            <a:spLocks noGrp="1"/>
          </p:cNvSpPr>
          <p:nvPr>
            <p:ph type="body" idx="5"/>
          </p:nvPr>
        </p:nvSpPr>
        <p:spPr>
          <a:xfrm>
            <a:off x="342975" y="1166100"/>
            <a:ext cx="8458200" cy="36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dirty="0">
                <a:sym typeface="IBM Plex Sans"/>
              </a:rPr>
              <a:t>LDA with bag-of-words chosen for stronger interpretability and topic coherence.</a:t>
            </a:r>
            <a:endParaRPr lang="ar-SA" dirty="0">
              <a:sym typeface="IBM Plex Sans"/>
            </a:endParaRPr>
          </a:p>
          <a:p>
            <a:pPr>
              <a:lnSpc>
                <a:spcPct val="150000"/>
              </a:lnSpc>
            </a:pPr>
            <a:r>
              <a:rPr lang="en" dirty="0">
                <a:sym typeface="IBM Plex Sans"/>
              </a:rPr>
              <a:t>Performs well on short, noisy review text, capturing meaningful patterns despite limited context.</a:t>
            </a:r>
            <a:endParaRPr lang="ar-SA" dirty="0">
              <a:sym typeface="IBM Plex Sans"/>
            </a:endParaRPr>
          </a:p>
          <a:p>
            <a:pPr>
              <a:lnSpc>
                <a:spcPct val="150000"/>
              </a:lnSpc>
            </a:pPr>
            <a:r>
              <a:rPr lang="en" dirty="0">
                <a:sym typeface="IBM Plex Sans"/>
              </a:rPr>
              <a:t>Models word co-occurrence effectively, outperforming LSA for our use case.</a:t>
            </a:r>
            <a:endParaRPr lang="ar-SA" dirty="0">
              <a:sym typeface="IBM Plex Sans"/>
            </a:endParaRPr>
          </a:p>
          <a:p>
            <a:pPr>
              <a:lnSpc>
                <a:spcPct val="150000"/>
              </a:lnSpc>
            </a:pPr>
            <a:r>
              <a:rPr lang="en" dirty="0">
                <a:sym typeface="IBM Plex Sans"/>
              </a:rPr>
              <a:t>Aligns with our preprocessing pipeline, enabling consistent extraction of key themes in patient feedback.</a:t>
            </a:r>
            <a:endParaRPr dirty="0">
              <a:sym typeface="IBM Plex Sans"/>
            </a:endParaRPr>
          </a:p>
          <a:p>
            <a:pPr>
              <a:lnSpc>
                <a:spcPct val="150000"/>
              </a:lnSpc>
            </a:pPr>
            <a:endParaRPr dirty="0">
              <a:sym typeface="IBM Plex San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400"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400"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400"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1400" b="1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97" name="Google Shape;497;p60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498" name="Google Shape;498;p60"/>
          <p:cNvSpPr txBox="1">
            <a:spLocks noGrp="1"/>
          </p:cNvSpPr>
          <p:nvPr>
            <p:ph type="subTitle" idx="1"/>
          </p:nvPr>
        </p:nvSpPr>
        <p:spPr>
          <a:xfrm>
            <a:off x="645275" y="551375"/>
            <a:ext cx="37284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600" dirty="0">
                <a:latin typeface="IBM Plex Mono Medium"/>
              </a:rPr>
              <a:t>Topic Modeling</a:t>
            </a:r>
            <a:endParaRPr sz="1600" dirty="0">
              <a:latin typeface="IBM Plex Mono Medium"/>
            </a:endParaRPr>
          </a:p>
        </p:txBody>
      </p:sp>
      <p:sp>
        <p:nvSpPr>
          <p:cNvPr id="499" name="Google Shape;499;p60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1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505" name="Google Shape;505;p61"/>
          <p:cNvSpPr txBox="1">
            <a:spLocks noGrp="1"/>
          </p:cNvSpPr>
          <p:nvPr>
            <p:ph type="subTitle" idx="1"/>
          </p:nvPr>
        </p:nvSpPr>
        <p:spPr>
          <a:xfrm>
            <a:off x="645275" y="551375"/>
            <a:ext cx="37284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600" dirty="0">
                <a:latin typeface="IBM Plex Mono Medium"/>
              </a:rPr>
              <a:t>Topic Modeling (</a:t>
            </a:r>
            <a:r>
              <a:rPr lang="en" sz="1600" dirty="0" err="1">
                <a:latin typeface="IBM Plex Mono Medium"/>
              </a:rPr>
              <a:t>contd</a:t>
            </a:r>
            <a:r>
              <a:rPr lang="en" sz="1600" dirty="0">
                <a:latin typeface="IBM Plex Mono Medium"/>
              </a:rPr>
              <a:t>)</a:t>
            </a:r>
            <a:endParaRPr sz="1600" dirty="0">
              <a:latin typeface="IBM Plex Mono Medium"/>
            </a:endParaRPr>
          </a:p>
        </p:txBody>
      </p:sp>
      <p:sp>
        <p:nvSpPr>
          <p:cNvPr id="506" name="Google Shape;506;p61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7" name="Google Shape;50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00613"/>
            <a:ext cx="8839199" cy="1742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2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513" name="Google Shape;513;p62"/>
          <p:cNvSpPr txBox="1">
            <a:spLocks noGrp="1"/>
          </p:cNvSpPr>
          <p:nvPr>
            <p:ph type="subTitle" idx="1"/>
          </p:nvPr>
        </p:nvSpPr>
        <p:spPr>
          <a:xfrm>
            <a:off x="645275" y="551375"/>
            <a:ext cx="37284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600" dirty="0">
                <a:latin typeface="IBM Plex Mono Medium"/>
              </a:rPr>
              <a:t>Topic Modeling (</a:t>
            </a:r>
            <a:r>
              <a:rPr lang="en" sz="1600" dirty="0" err="1">
                <a:latin typeface="IBM Plex Mono Medium"/>
              </a:rPr>
              <a:t>contd</a:t>
            </a:r>
            <a:r>
              <a:rPr lang="en" sz="1600" dirty="0">
                <a:latin typeface="IBM Plex Mono Medium"/>
              </a:rPr>
              <a:t>)</a:t>
            </a:r>
            <a:endParaRPr sz="1600" dirty="0">
              <a:latin typeface="IBM Plex Mono Medium"/>
            </a:endParaRPr>
          </a:p>
        </p:txBody>
      </p:sp>
      <p:sp>
        <p:nvSpPr>
          <p:cNvPr id="514" name="Google Shape;514;p62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62"/>
          <p:cNvSpPr txBox="1"/>
          <p:nvPr/>
        </p:nvSpPr>
        <p:spPr>
          <a:xfrm>
            <a:off x="324000" y="960575"/>
            <a:ext cx="8496000" cy="3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Topic 1 — “Quality of Care &amp; Professionalism”</a:t>
            </a:r>
            <a:b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</a:br>
            <a: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Words like </a:t>
            </a:r>
            <a:r>
              <a:rPr lang="en" sz="1200" b="1" i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care, doctor, experience, time, great, recommend, medical, take, professional, patient</a:t>
            </a:r>
            <a: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point to patients describing the overall quality of service, how they felt treated, and whether they would recommend the clinic.</a:t>
            </a:r>
            <a:endParaRPr sz="1200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Topic 2 — “Communication &amp; Staff Interaction Issues”</a:t>
            </a:r>
            <a:br>
              <a:rPr lang="en" sz="12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Words such as </a:t>
            </a:r>
            <a:r>
              <a:rPr lang="en" sz="1200" b="1" i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doctor, go, tell, get, say, call, would, patient, ask, give</a:t>
            </a:r>
            <a: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show a theme of communication between staff and patients.</a:t>
            </a:r>
            <a:b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</a:br>
            <a: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This topic reflects issues where patients mention: poor explanations, unreturned calls, unclear instructions, communication frustrations</a:t>
            </a:r>
            <a:endParaRPr sz="1200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It’s not about wait times or care quality—it's specifically about interactions and communication.</a:t>
            </a:r>
            <a:endParaRPr sz="1200">
              <a:solidFill>
                <a:schemeClr val="dk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Topic 3 — “Wait Times &amp; Appointment Delays”</a:t>
            </a:r>
            <a:endParaRPr sz="12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Top words like </a:t>
            </a:r>
            <a:r>
              <a:rPr lang="en" sz="1200" b="1" i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wait, time, go, get, appointment, see, urgent_care, doctor, take, hour</a:t>
            </a:r>
            <a: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clearly point to delays, long waits, and scheduling problems.</a:t>
            </a:r>
            <a:b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</a:br>
            <a:r>
              <a:rPr lang="en"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This is a classic “wait time” topic seen in many healthcare review datasets.</a:t>
            </a:r>
            <a:endParaRPr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521" name="Google Shape;521;p63"/>
          <p:cNvSpPr txBox="1">
            <a:spLocks noGrp="1"/>
          </p:cNvSpPr>
          <p:nvPr>
            <p:ph type="subTitle" idx="1"/>
          </p:nvPr>
        </p:nvSpPr>
        <p:spPr>
          <a:xfrm>
            <a:off x="645275" y="551375"/>
            <a:ext cx="37284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600" dirty="0">
                <a:latin typeface="IBM Plex Mono Medium"/>
              </a:rPr>
              <a:t>Supervised learning</a:t>
            </a:r>
            <a:endParaRPr sz="1600" dirty="0">
              <a:latin typeface="IBM Plex Mono Medium"/>
            </a:endParaRPr>
          </a:p>
        </p:txBody>
      </p:sp>
      <p:sp>
        <p:nvSpPr>
          <p:cNvPr id="522" name="Google Shape;522;p63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3" name="Google Shape;52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688" y="1023775"/>
            <a:ext cx="5197821" cy="3878125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24" name="Google Shape;524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4487" y="3293775"/>
            <a:ext cx="4286624" cy="1442225"/>
          </a:xfrm>
          <a:prstGeom prst="rect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4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530" name="Google Shape;530;p64"/>
          <p:cNvSpPr txBox="1">
            <a:spLocks noGrp="1"/>
          </p:cNvSpPr>
          <p:nvPr>
            <p:ph type="subTitle" idx="1"/>
          </p:nvPr>
        </p:nvSpPr>
        <p:spPr>
          <a:xfrm>
            <a:off x="645275" y="551375"/>
            <a:ext cx="65616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600" dirty="0">
                <a:latin typeface="IBM Plex Mono Medium"/>
              </a:rPr>
              <a:t>Quantify words that predict low vs. high ratings</a:t>
            </a:r>
            <a:endParaRPr sz="1600" dirty="0">
              <a:latin typeface="IBM Plex Mono Medium"/>
            </a:endParaRPr>
          </a:p>
        </p:txBody>
      </p:sp>
      <p:sp>
        <p:nvSpPr>
          <p:cNvPr id="531" name="Google Shape;531;p64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2" name="Google Shape;53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600" y="1074000"/>
            <a:ext cx="3978351" cy="3561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8445" y="1087700"/>
            <a:ext cx="3978345" cy="3533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5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539" name="Google Shape;539;p65"/>
          <p:cNvSpPr txBox="1">
            <a:spLocks noGrp="1"/>
          </p:cNvSpPr>
          <p:nvPr>
            <p:ph type="subTitle" idx="1"/>
          </p:nvPr>
        </p:nvSpPr>
        <p:spPr>
          <a:xfrm>
            <a:off x="629775" y="134350"/>
            <a:ext cx="76611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600" dirty="0">
                <a:latin typeface="IBM Plex Mono Medium"/>
              </a:rPr>
              <a:t>Quantify words that predict low vs. high ratings (</a:t>
            </a:r>
            <a:r>
              <a:rPr lang="en" sz="1600" dirty="0" err="1">
                <a:latin typeface="IBM Plex Mono Medium"/>
              </a:rPr>
              <a:t>contd</a:t>
            </a:r>
            <a:r>
              <a:rPr lang="en" sz="1600" dirty="0">
                <a:latin typeface="IBM Plex Mono Medium"/>
              </a:rPr>
              <a:t>)</a:t>
            </a:r>
            <a:endParaRPr sz="1600" dirty="0">
              <a:latin typeface="IBM Plex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540" name="Google Shape;540;p65"/>
          <p:cNvSpPr/>
          <p:nvPr/>
        </p:nvSpPr>
        <p:spPr>
          <a:xfrm>
            <a:off x="457190" y="28836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41" name="Google Shape;541;p65"/>
          <p:cNvGraphicFramePr/>
          <p:nvPr>
            <p:extLst>
              <p:ext uri="{D42A27DB-BD31-4B8C-83A1-F6EECF244321}">
                <p14:modId xmlns:p14="http://schemas.microsoft.com/office/powerpoint/2010/main" val="2493574976"/>
              </p:ext>
            </p:extLst>
          </p:nvPr>
        </p:nvGraphicFramePr>
        <p:xfrm>
          <a:off x="341644" y="707825"/>
          <a:ext cx="8459581" cy="1203092"/>
        </p:xfrm>
        <a:graphic>
          <a:graphicData uri="http://schemas.openxmlformats.org/drawingml/2006/table">
            <a:tbl>
              <a:tblPr>
                <a:noFill/>
                <a:tableStyleId>{7A07705B-5D18-457A-A06C-3EAC3D1E9904}</a:tableStyleId>
              </a:tblPr>
              <a:tblGrid>
                <a:gridCol w="770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3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none" strike="noStrike" cap="none" dirty="0">
                          <a:solidFill>
                            <a:schemeClr val="dk1"/>
                          </a:solidFill>
                          <a:latin typeface="IBM Plex Sans"/>
                          <a:sym typeface="Arial"/>
                        </a:rPr>
                        <a:t>Topic 1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IBM Plex Sans"/>
                        <a:sym typeface="Arial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care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 dirty="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doctor</a:t>
                      </a:r>
                      <a:endParaRPr sz="12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experience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time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great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recommend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medical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take 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professional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patient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200" b="1" i="0" u="none" strike="noStrike" cap="none" dirty="0">
                          <a:solidFill>
                            <a:schemeClr val="dk1"/>
                          </a:solidFill>
                          <a:latin typeface="IBM Plex Sans"/>
                          <a:cs typeface="Arial"/>
                          <a:sym typeface="Arial"/>
                        </a:rPr>
                        <a:t>Coef.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IBM Plex Sans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0.96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3.32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1.15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-3.51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11.57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6.06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0.40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5.59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6.509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-3.89</a:t>
                      </a:r>
                      <a:endParaRPr sz="1200" dirty="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2" name="Google Shape;542;p65"/>
          <p:cNvGraphicFramePr/>
          <p:nvPr>
            <p:extLst>
              <p:ext uri="{D42A27DB-BD31-4B8C-83A1-F6EECF244321}">
                <p14:modId xmlns:p14="http://schemas.microsoft.com/office/powerpoint/2010/main" val="1601446610"/>
              </p:ext>
            </p:extLst>
          </p:nvPr>
        </p:nvGraphicFramePr>
        <p:xfrm>
          <a:off x="342775" y="2130175"/>
          <a:ext cx="8458450" cy="1220922"/>
        </p:xfrm>
        <a:graphic>
          <a:graphicData uri="http://schemas.openxmlformats.org/drawingml/2006/table">
            <a:tbl>
              <a:tblPr>
                <a:noFill/>
                <a:tableStyleId>{7A07705B-5D18-457A-A06C-3EAC3D1E9904}</a:tableStyleId>
              </a:tblPr>
              <a:tblGrid>
                <a:gridCol w="76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3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none" strike="noStrike" cap="none" dirty="0">
                          <a:solidFill>
                            <a:schemeClr val="dk1"/>
                          </a:solidFill>
                          <a:latin typeface="IBM Plex Sans"/>
                          <a:cs typeface="Arial"/>
                          <a:sym typeface="Arial"/>
                        </a:rPr>
                        <a:t>Topic 2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IBM Plex Sans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doctor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go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tell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get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say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call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would</a:t>
                      </a:r>
                      <a:endParaRPr/>
                    </a:p>
                    <a:p>
                      <a:pPr marL="0" lvl="0" indent="0" algn="l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patient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ask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give</a:t>
                      </a:r>
                      <a:endParaRPr/>
                    </a:p>
                    <a:p>
                      <a:pPr marL="0" lvl="0" indent="0" algn="l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200" b="1" i="0" u="none" strike="noStrike" cap="none" dirty="0">
                          <a:solidFill>
                            <a:schemeClr val="dk1"/>
                          </a:solidFill>
                          <a:latin typeface="IBM Plex Sans"/>
                          <a:cs typeface="Arial"/>
                          <a:sym typeface="Arial"/>
                        </a:rPr>
                        <a:t>Coef.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IBM Plex Sans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3.32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-1.27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-6.37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0.38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-7.36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-3.17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-3.09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-3.89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-6.43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-1.22</a:t>
                      </a:r>
                      <a:endParaRPr sz="1200" dirty="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3" name="Google Shape;543;p65"/>
          <p:cNvGraphicFramePr/>
          <p:nvPr>
            <p:extLst>
              <p:ext uri="{D42A27DB-BD31-4B8C-83A1-F6EECF244321}">
                <p14:modId xmlns:p14="http://schemas.microsoft.com/office/powerpoint/2010/main" val="3785438633"/>
              </p:ext>
            </p:extLst>
          </p:nvPr>
        </p:nvGraphicFramePr>
        <p:xfrm>
          <a:off x="342775" y="3570350"/>
          <a:ext cx="8458450" cy="1546022"/>
        </p:xfrm>
        <a:graphic>
          <a:graphicData uri="http://schemas.openxmlformats.org/drawingml/2006/table">
            <a:tbl>
              <a:tblPr>
                <a:noFill/>
                <a:tableStyleId>{7A07705B-5D18-457A-A06C-3EAC3D1E9904}</a:tableStyleId>
              </a:tblPr>
              <a:tblGrid>
                <a:gridCol w="76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8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3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200" b="1" i="0" u="none" strike="noStrike" cap="none" dirty="0">
                          <a:solidFill>
                            <a:schemeClr val="dk1"/>
                          </a:solidFill>
                          <a:latin typeface="IBM Plex Sans"/>
                          <a:cs typeface="Arial"/>
                          <a:sym typeface="Arial"/>
                        </a:rPr>
                        <a:t>Topic 3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IBM Plex Sans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wait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time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go</a:t>
                      </a:r>
                      <a:endParaRPr/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get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appointment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see</a:t>
                      </a:r>
                      <a:endParaRPr/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urgent care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doctor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take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 i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hour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200" b="1" i="0" u="none" strike="noStrike" cap="none" dirty="0">
                          <a:solidFill>
                            <a:schemeClr val="dk1"/>
                          </a:solidFill>
                          <a:latin typeface="IBM Plex Sans"/>
                          <a:cs typeface="Arial"/>
                          <a:sym typeface="Arial"/>
                        </a:rPr>
                        <a:t>Coef.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IBM Plex Sans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-2.15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3.32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-1.27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0.38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-2.30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-1.11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0.02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3.32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0.68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-3.60</a:t>
                      </a:r>
                      <a:endParaRPr sz="1200" dirty="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7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559" name="Google Shape;559;p67"/>
          <p:cNvSpPr txBox="1">
            <a:spLocks noGrp="1"/>
          </p:cNvSpPr>
          <p:nvPr>
            <p:ph type="subTitle" idx="1"/>
          </p:nvPr>
        </p:nvSpPr>
        <p:spPr>
          <a:xfrm>
            <a:off x="645275" y="551375"/>
            <a:ext cx="37284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600" dirty="0">
                <a:latin typeface="IBM Plex Mono Medium"/>
              </a:rPr>
              <a:t>Deployment Plan</a:t>
            </a:r>
            <a:endParaRPr sz="1600" dirty="0">
              <a:latin typeface="IBM Plex Mono Medium"/>
            </a:endParaRPr>
          </a:p>
        </p:txBody>
      </p:sp>
      <p:sp>
        <p:nvSpPr>
          <p:cNvPr id="560" name="Google Shape;560;p67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67"/>
          <p:cNvSpPr txBox="1"/>
          <p:nvPr/>
        </p:nvSpPr>
        <p:spPr>
          <a:xfrm>
            <a:off x="881013" y="1414265"/>
            <a:ext cx="2392200" cy="76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Target Application Overview</a:t>
            </a:r>
            <a:endParaRPr sz="1600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62" name="Google Shape;562;p67"/>
          <p:cNvSpPr txBox="1"/>
          <p:nvPr/>
        </p:nvSpPr>
        <p:spPr>
          <a:xfrm>
            <a:off x="6143594" y="1886469"/>
            <a:ext cx="2392200" cy="76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Monitoring Performance &amp; Ethics Over Time</a:t>
            </a:r>
            <a:endParaRPr sz="1600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63" name="Google Shape;563;p67"/>
          <p:cNvSpPr txBox="1"/>
          <p:nvPr/>
        </p:nvSpPr>
        <p:spPr>
          <a:xfrm>
            <a:off x="6143594" y="2991269"/>
            <a:ext cx="2392200" cy="76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Model Retraining/Updating</a:t>
            </a:r>
            <a:endParaRPr sz="1600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64" name="Google Shape;564;p67"/>
          <p:cNvSpPr txBox="1"/>
          <p:nvPr/>
        </p:nvSpPr>
        <p:spPr>
          <a:xfrm>
            <a:off x="1733813" y="2400178"/>
            <a:ext cx="2392200" cy="76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Model Serving / Prediction Workflow</a:t>
            </a:r>
            <a:endParaRPr sz="1600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65" name="Google Shape;565;p67"/>
          <p:cNvSpPr txBox="1"/>
          <p:nvPr/>
        </p:nvSpPr>
        <p:spPr>
          <a:xfrm>
            <a:off x="2990438" y="3363640"/>
            <a:ext cx="2392200" cy="76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Automation of Data Collection</a:t>
            </a:r>
            <a:endParaRPr sz="1600">
              <a:solidFill>
                <a:schemeClr val="l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8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571" name="Google Shape;571;p68"/>
          <p:cNvSpPr txBox="1">
            <a:spLocks noGrp="1"/>
          </p:cNvSpPr>
          <p:nvPr>
            <p:ph type="subTitle" idx="1"/>
          </p:nvPr>
        </p:nvSpPr>
        <p:spPr>
          <a:xfrm>
            <a:off x="645275" y="551375"/>
            <a:ext cx="37284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IBM Plex Mono Medium"/>
              </a:rPr>
              <a:t>Conclusion</a:t>
            </a:r>
            <a:endParaRPr sz="1600" dirty="0">
              <a:latin typeface="IBM Plex Mono Medium"/>
            </a:endParaRPr>
          </a:p>
        </p:txBody>
      </p:sp>
      <p:sp>
        <p:nvSpPr>
          <p:cNvPr id="572" name="Google Shape;572;p68"/>
          <p:cNvSpPr/>
          <p:nvPr/>
        </p:nvSpPr>
        <p:spPr>
          <a:xfrm>
            <a:off x="472690" y="7053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68"/>
          <p:cNvSpPr txBox="1"/>
          <p:nvPr/>
        </p:nvSpPr>
        <p:spPr>
          <a:xfrm>
            <a:off x="409850" y="1342225"/>
            <a:ext cx="8053500" cy="18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IBM Plex Sans Light"/>
              <a:buChar char="●"/>
            </a:pPr>
            <a:r>
              <a:rPr lang="en" sz="1200" dirty="0">
                <a:solidFill>
                  <a:schemeClr val="dk1"/>
                </a:solidFill>
                <a:latin typeface="IBM Plex Sans Light"/>
                <a:sym typeface="IBM Plex Sans"/>
              </a:rPr>
              <a:t>LDA with bag-of-words chosen for stronger interpretability and topic coherence.</a:t>
            </a:r>
            <a:endParaRPr sz="1200" dirty="0">
              <a:solidFill>
                <a:schemeClr val="dk1"/>
              </a:solidFill>
              <a:latin typeface="IBM Plex Sans Light"/>
              <a:sym typeface="IBM Plex Sans"/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IBM Plex Sans Light"/>
              <a:buChar char="●"/>
            </a:pPr>
            <a:r>
              <a:rPr lang="en" sz="1200" dirty="0">
                <a:solidFill>
                  <a:schemeClr val="dk1"/>
                </a:solidFill>
                <a:latin typeface="IBM Plex Sans Light"/>
                <a:sym typeface="IBM Plex Sans"/>
              </a:rPr>
              <a:t>Strong positive relationship between polarity and review ratings</a:t>
            </a:r>
            <a:endParaRPr sz="1200" dirty="0">
              <a:solidFill>
                <a:schemeClr val="dk1"/>
              </a:solidFill>
              <a:latin typeface="IBM Plex Sans Light"/>
              <a:sym typeface="IBM Plex Sans"/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IBM Plex Sans Light"/>
              <a:buChar char="●"/>
            </a:pPr>
            <a:r>
              <a:rPr lang="en" sz="1200" dirty="0">
                <a:solidFill>
                  <a:schemeClr val="dk1"/>
                </a:solidFill>
                <a:latin typeface="IBM Plex Sans Light"/>
                <a:sym typeface="IBM Plex Sans"/>
              </a:rPr>
              <a:t>Important for seeing gaps in customer engagement in different topics -&gt; can be used by administrators to track problems and take customer feedback into account without much customer intervention.</a:t>
            </a:r>
            <a:endParaRPr sz="1200" dirty="0">
              <a:solidFill>
                <a:schemeClr val="dk1"/>
              </a:solidFill>
              <a:latin typeface="IBM Plex Sans Light"/>
              <a:sym typeface="IBM Plex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9"/>
          <p:cNvSpPr/>
          <p:nvPr/>
        </p:nvSpPr>
        <p:spPr>
          <a:xfrm>
            <a:off x="1113100" y="457200"/>
            <a:ext cx="3656700" cy="300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579" name="Google Shape;579;p69"/>
          <p:cNvCxnSpPr/>
          <p:nvPr/>
        </p:nvCxnSpPr>
        <p:spPr>
          <a:xfrm>
            <a:off x="4769801" y="777600"/>
            <a:ext cx="391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0" name="Google Shape;580;p69"/>
          <p:cNvSpPr txBox="1">
            <a:spLocks noGrp="1"/>
          </p:cNvSpPr>
          <p:nvPr>
            <p:ph type="title"/>
          </p:nvPr>
        </p:nvSpPr>
        <p:spPr>
          <a:xfrm>
            <a:off x="1223925" y="457200"/>
            <a:ext cx="3435000" cy="18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581" name="Google Shape;581;p69"/>
          <p:cNvSpPr txBox="1">
            <a:spLocks noGrp="1"/>
          </p:cNvSpPr>
          <p:nvPr>
            <p:ph type="body" idx="2"/>
          </p:nvPr>
        </p:nvSpPr>
        <p:spPr>
          <a:xfrm>
            <a:off x="4769800" y="890650"/>
            <a:ext cx="4378200" cy="28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Evans, D. A., Ginther-Webster, K., Hart, M., Lefferts, R. G., &amp; Monarch, I. (1991). </a:t>
            </a:r>
            <a:r>
              <a:rPr lang="en" sz="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Automatic indexing using selective NLP and first-order thesauri.</a:t>
            </a:r>
            <a:r>
              <a:rPr lang="en" sz="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 </a:t>
            </a:r>
            <a:r>
              <a:rPr lang="en" sz="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Proceedings of the Intelligent Multimedia Information Retrieval Systems &amp; Management (RIAO ’91)</a:t>
            </a:r>
            <a:r>
              <a:rPr lang="en" sz="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(pp. 624–643). Elsevier.</a:t>
            </a:r>
            <a:r>
              <a:rPr lang="en" sz="800">
                <a:solidFill>
                  <a:srgbClr val="000000"/>
                </a:solidFill>
                <a:uFill>
                  <a:noFill/>
                </a:uFill>
                <a:latin typeface="IBM Plex Sans"/>
                <a:ea typeface="IBM Plex Sans"/>
                <a:cs typeface="IBM Plex Sans"/>
                <a:sym typeface="IBM Plex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800" u="sng">
                <a:solidFill>
                  <a:srgbClr val="1155CC"/>
                </a:solidFill>
                <a:latin typeface="IBM Plex Sans"/>
                <a:ea typeface="IBM Plex Sans"/>
                <a:cs typeface="IBM Plex Sans"/>
                <a:sym typeface="IBM Plex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DBLP+1</a:t>
            </a:r>
            <a:endParaRPr sz="800" u="sng">
              <a:solidFill>
                <a:srgbClr val="1155CC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Wallace, B. C., Paul, M. J., Sarkar, U., &amp; Trikalinos, T. A. (2015). A large-scale analysis of online patient reviews using latent Dirichlet allocation. </a:t>
            </a:r>
            <a:r>
              <a:rPr lang="en" sz="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Journal of the American Medical Informatics Association, 22</a:t>
            </a:r>
            <a:r>
              <a:rPr lang="en" sz="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(6), 1219–1226. </a:t>
            </a:r>
            <a:r>
              <a:rPr lang="en" sz="800" u="sng">
                <a:solidFill>
                  <a:srgbClr val="1155CC"/>
                </a:solidFill>
                <a:latin typeface="IBM Plex Sans"/>
                <a:ea typeface="IBM Plex Sans"/>
                <a:cs typeface="IBM Plex Sans"/>
                <a:sym typeface="IBM Plex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CMU School of Computer Science+1</a:t>
            </a:r>
            <a:endParaRPr sz="800" u="sng">
              <a:solidFill>
                <a:srgbClr val="1155CC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Greaves, F., Ramirez-Cano, D., Millett, C., Darzi, A., &amp; Donaldson, L. (2013). Patients’ ratings of health care providers: Sentiment analysis of NHS provider reviews. </a:t>
            </a:r>
            <a:r>
              <a:rPr lang="en" sz="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Journal of Medical Internet Research, 15</a:t>
            </a:r>
            <a:r>
              <a:rPr lang="en" sz="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(11), e239. </a:t>
            </a:r>
            <a:endParaRPr sz="8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Beckett, M. K., Quigley, D. D., Lehrman, W. G., Giordano, L. A., Cohea, C. W., Goldstein, E. H., &amp; Elliott, M. N. (2024). Interventions and hospital characteristics associated with patient experience: An update of the evi</a:t>
            </a:r>
            <a:r>
              <a:rPr lang="en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dence. </a:t>
            </a:r>
            <a:r>
              <a:rPr lang="en" sz="8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Medical Care Research and Review, 81</a:t>
            </a:r>
            <a:r>
              <a:rPr lang="en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(3), 195–208</a:t>
            </a:r>
            <a:endParaRPr sz="8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Wu, S., Roberts, K., Datta, S., Du, J., Ji, Z., Si, Y., … &amp; Xu, H. (2020). Deep learning in clinical natural language processing: A methodical survey. </a:t>
            </a:r>
            <a:r>
              <a:rPr lang="en" sz="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Journal of the American Medical Informatics Association, 27</a:t>
            </a:r>
            <a:r>
              <a:rPr lang="en" sz="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(12), 1875–1888. </a:t>
            </a:r>
            <a:endParaRPr sz="8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Roberts, L. W. (2020). Ethical considerations in the use of social media and online review data in healthcare quality improvement. </a:t>
            </a:r>
            <a:r>
              <a:rPr lang="en" sz="800" i="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Academic Medicine, 95</a:t>
            </a:r>
            <a:r>
              <a:rPr lang="en" sz="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(6), 888–893.</a:t>
            </a:r>
            <a:endParaRPr sz="8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800" b="1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800"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sz="800"/>
          </a:p>
        </p:txBody>
      </p:sp>
      <p:sp>
        <p:nvSpPr>
          <p:cNvPr id="582" name="Google Shape;582;p69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0"/>
          <p:cNvSpPr txBox="1">
            <a:spLocks noGrp="1"/>
          </p:cNvSpPr>
          <p:nvPr>
            <p:ph type="sldNum" idx="12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588" name="Google Shape;588;p70"/>
          <p:cNvSpPr txBox="1"/>
          <p:nvPr/>
        </p:nvSpPr>
        <p:spPr>
          <a:xfrm>
            <a:off x="261950" y="1546950"/>
            <a:ext cx="8707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Thank you</a:t>
            </a:r>
            <a:endParaRPr sz="5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Any Questions?</a:t>
            </a:r>
            <a:r>
              <a:rPr lang="en" sz="30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  </a:t>
            </a:r>
            <a:endParaRPr sz="30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for New Client">
  <a:themeElements>
    <a:clrScheme name="Simple Light">
      <a:dk1>
        <a:srgbClr val="004A2E"/>
      </a:dk1>
      <a:lt1>
        <a:srgbClr val="F1F1E9"/>
      </a:lt1>
      <a:dk2>
        <a:srgbClr val="00160D"/>
      </a:dk2>
      <a:lt2>
        <a:srgbClr val="26A96C"/>
      </a:lt2>
      <a:accent1>
        <a:srgbClr val="002517"/>
      </a:accent1>
      <a:accent2>
        <a:srgbClr val="1A5C42"/>
      </a:accent2>
      <a:accent3>
        <a:srgbClr val="4C806C"/>
      </a:accent3>
      <a:accent4>
        <a:srgbClr val="CCDAD5"/>
      </a:accent4>
      <a:accent5>
        <a:srgbClr val="EEF7F5"/>
      </a:accent5>
      <a:accent6>
        <a:srgbClr val="FFFFFF"/>
      </a:accent6>
      <a:hlink>
        <a:srgbClr val="26A96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1747</Words>
  <Application>Microsoft Macintosh PowerPoint</Application>
  <PresentationFormat>On-screen Show (16:9)</PresentationFormat>
  <Paragraphs>319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IBM Plex Sans Light</vt:lpstr>
      <vt:lpstr>Arial</vt:lpstr>
      <vt:lpstr>IBM Plex Mono Medium</vt:lpstr>
      <vt:lpstr>IBM Plex Mono Light</vt:lpstr>
      <vt:lpstr>IBM Plex Sans</vt:lpstr>
      <vt:lpstr>IBM Plex Sans Medium</vt:lpstr>
      <vt:lpstr>IBM Plex Mono</vt:lpstr>
      <vt:lpstr>Proposal for New Client</vt:lpstr>
      <vt:lpstr>Analyzing Healthcare Reviews  IST 332:  NLP Final Project    Group Members Ahmed, Darby, Olga, Soren   </vt:lpstr>
      <vt:lpstr>Contents</vt:lpstr>
      <vt:lpstr>PowerPoint Presentation</vt:lpstr>
      <vt:lpstr>  Introduction</vt:lpstr>
      <vt:lpstr>         Research Questions </vt:lpstr>
      <vt:lpstr>  Relevance</vt:lpstr>
      <vt:lpstr>PowerPoint Presentation</vt:lpstr>
      <vt:lpstr>PowerPoint Presentation</vt:lpstr>
      <vt:lpstr>PowerPoint Presentation</vt:lpstr>
      <vt:lpstr>PowerPoint Presentation</vt:lpstr>
      <vt:lpstr>Text Preprocessing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Ahmed Alhussain</cp:lastModifiedBy>
  <cp:revision>3</cp:revision>
  <dcterms:modified xsi:type="dcterms:W3CDTF">2025-12-11T06:50:20Z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44cb15-2886-4a1e-a704-4bf8b73b33f1_Enabled">
    <vt:lpwstr>true</vt:lpwstr>
  </property>
  <property fmtid="{D5CDD505-2E9C-101B-9397-08002B2CF9AE}" pid="3" name="MSIP_Label_0344cb15-2886-4a1e-a704-4bf8b73b33f1_SetDate">
    <vt:lpwstr>2025-12-11T06:44:15Z</vt:lpwstr>
  </property>
  <property fmtid="{D5CDD505-2E9C-101B-9397-08002B2CF9AE}" pid="4" name="MSIP_Label_0344cb15-2886-4a1e-a704-4bf8b73b33f1_Method">
    <vt:lpwstr>Standard</vt:lpwstr>
  </property>
  <property fmtid="{D5CDD505-2E9C-101B-9397-08002B2CF9AE}" pid="5" name="MSIP_Label_0344cb15-2886-4a1e-a704-4bf8b73b33f1_Name">
    <vt:lpwstr>defa4170-0d19-0005-0003-bc88714345d2</vt:lpwstr>
  </property>
  <property fmtid="{D5CDD505-2E9C-101B-9397-08002B2CF9AE}" pid="6" name="MSIP_Label_0344cb15-2886-4a1e-a704-4bf8b73b33f1_SiteId">
    <vt:lpwstr>19afb2c8-5efd-4718-a107-530ed963d11e</vt:lpwstr>
  </property>
  <property fmtid="{D5CDD505-2E9C-101B-9397-08002B2CF9AE}" pid="7" name="MSIP_Label_0344cb15-2886-4a1e-a704-4bf8b73b33f1_ActionId">
    <vt:lpwstr>c735e58b-4bbb-4b5f-a254-09913704c5ac</vt:lpwstr>
  </property>
  <property fmtid="{D5CDD505-2E9C-101B-9397-08002B2CF9AE}" pid="8" name="MSIP_Label_0344cb15-2886-4a1e-a704-4bf8b73b33f1_ContentBits">
    <vt:lpwstr>0</vt:lpwstr>
  </property>
  <property fmtid="{D5CDD505-2E9C-101B-9397-08002B2CF9AE}" pid="9" name="MSIP_Label_0344cb15-2886-4a1e-a704-4bf8b73b33f1_Tag">
    <vt:lpwstr>50, 3, 0, 1</vt:lpwstr>
  </property>
</Properties>
</file>